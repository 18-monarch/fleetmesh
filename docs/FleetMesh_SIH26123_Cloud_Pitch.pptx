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4260b7c6aa9443e" /><Relationship Type="http://schemas.openxmlformats.org/officeDocument/2006/relationships/extended-properties" Target="/docProps/app.xml" Id="R690d5abe3b274419" /><Relationship Type="http://schemas.openxmlformats.org/officeDocument/2006/relationships/officeDocument" Target="/ppt/presentation.xml" Id="R064432d824df4b48" /></Relationships>
</file>

<file path=ppt/presentation.xml><?xml version="1.0" encoding="utf-8"?>
<p:presentation xmlns:p="http://schemas.openxmlformats.org/presentationml/2006/main">
  <p:sldMasterIdLst>
    <p:sldMasterId xmlns:r="http://schemas.openxmlformats.org/officeDocument/2006/relationships" id="2147483648" r:id="R6e2253bcf23a46c3"/>
  </p:sldMasterIdLst>
  <p:notesMasterIdLst>
    <p:notesMasterId xmlns:r="http://schemas.openxmlformats.org/officeDocument/2006/relationships" r:id="R8e8f99fa5677469e"/>
  </p:notesMasterIdLst>
  <p:sldIdLst>
    <p:sldId xmlns:r="http://schemas.openxmlformats.org/officeDocument/2006/relationships" id="256" r:id="R906afcde108f4929"/>
    <p:sldId xmlns:r="http://schemas.openxmlformats.org/officeDocument/2006/relationships" id="257" r:id="Rdce6672d04e247df"/>
    <p:sldId xmlns:r="http://schemas.openxmlformats.org/officeDocument/2006/relationships" id="258" r:id="Re4df7fe6395f4a34"/>
    <p:sldId xmlns:r="http://schemas.openxmlformats.org/officeDocument/2006/relationships" id="259" r:id="R220885c73b4f41cb"/>
    <p:sldId xmlns:r="http://schemas.openxmlformats.org/officeDocument/2006/relationships" id="260" r:id="R130a24ce3e8640c3"/>
    <p:sldId xmlns:r="http://schemas.openxmlformats.org/officeDocument/2006/relationships" id="261" r:id="R70aa21bf6a6a40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5c3a1795b3841ac" /><Relationship Type="http://schemas.openxmlformats.org/officeDocument/2006/relationships/slideMaster" Target="/ppt/slideMasters/slideMaster1.xml" Id="R6e2253bcf23a46c3" /><Relationship Type="http://schemas.openxmlformats.org/officeDocument/2006/relationships/notesMaster" Target="/ppt/notesMasters/notesMaster1.xml" Id="R8e8f99fa5677469e" /><Relationship Type="http://schemas.openxmlformats.org/officeDocument/2006/relationships/presProps" Target="/ppt/presProps.xml" Id="Rae707a23594f4004" /><Relationship Type="http://schemas.openxmlformats.org/officeDocument/2006/relationships/viewProps" Target="/ppt/viewProps.xml" Id="R05a6192ae81040ac" /><Relationship Type="http://schemas.openxmlformats.org/officeDocument/2006/relationships/tableStyles" Target="/ppt/tableStyles.xml" Id="Rcfcd8520640a444e" /><Relationship Type="http://schemas.openxmlformats.org/officeDocument/2006/relationships/slide" Target="/ppt/slides/slide1.xml" Id="R906afcde108f4929" /><Relationship Type="http://schemas.openxmlformats.org/officeDocument/2006/relationships/slide" Target="/ppt/slides/slide2.xml" Id="Rdce6672d04e247df" /><Relationship Type="http://schemas.openxmlformats.org/officeDocument/2006/relationships/slide" Target="/ppt/slides/slide3.xml" Id="Re4df7fe6395f4a34" /><Relationship Type="http://schemas.openxmlformats.org/officeDocument/2006/relationships/slide" Target="/ppt/slides/slide4.xml" Id="R220885c73b4f41cb" /><Relationship Type="http://schemas.openxmlformats.org/officeDocument/2006/relationships/slide" Target="/ppt/slides/slide5.xml" Id="R130a24ce3e8640c3" /><Relationship Type="http://schemas.openxmlformats.org/officeDocument/2006/relationships/slide" Target="/ppt/slides/slide6.xml" Id="R70aa21bf6a6a40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7341e7d41744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aa9a83e2c54100" /><Relationship Type="http://schemas.openxmlformats.org/officeDocument/2006/relationships/notesMaster" Target="/ppt/notesMasters/notesMaster1.xml" Id="R792e684df99249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84caf68fce4430" /><Relationship Type="http://schemas.openxmlformats.org/officeDocument/2006/relationships/notesMaster" Target="/ppt/notesMasters/notesMaster1.xml" Id="R741d70edbc4240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eec47af9ac4244" /><Relationship Type="http://schemas.openxmlformats.org/officeDocument/2006/relationships/notesMaster" Target="/ppt/notesMasters/notesMaster1.xml" Id="R3dbf4cd8957f4e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9bcf8411b94f10" /><Relationship Type="http://schemas.openxmlformats.org/officeDocument/2006/relationships/notesMaster" Target="/ppt/notesMasters/notesMaster1.xml" Id="R917a5d155c5744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b8426f325242c8" /><Relationship Type="http://schemas.openxmlformats.org/officeDocument/2006/relationships/notesMaster" Target="/ppt/notesMasters/notesMaster1.xml" Id="Re93111f2655641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38f0a588e44e90" /><Relationship Type="http://schemas.openxmlformats.org/officeDocument/2006/relationships/notesMaster" Target="/ppt/notesMasters/notesMaster1.xml" Id="Rdc6c54673ea542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FleetMesh 1.3.0. Replace the registered Team ID and Team Name before submission. The project name is FleetMesh and must not be confused with the team's registered name. Opening (25 seconds): Warehouse robots share narrow routes. FleetMesh gives each robot its own planner and a peer permission protocol. We have built a complete local software simulation with an operator console, live disturbances, recorded replay and inspectable results. Today we will show actual robot processes and what happens when the route or communication changes. The prototype runs on laptops. It is not yet a physical warehouse deployment. Source: supplied SIH 2026 PS 26123 screenshots and official presentation template.</a:t>
            </a:r>
          </a:p>
          <a:p xmlns:a="http://schemas.openxmlformats.org/drawingml/2006/main">
            <a:r>
              <a:t/>
            </a:r>
          </a:p>
          <a:p xmlns:a="http://schemas.openxmlformats.org/drawingml/2006/main">
            <a:r>
              <a:t>Cloud validation, 15 September 2026: Render https://fleetmesh-api.onrender.com/app uses Neon production branch br-purple-pine-b3gbko9x. Vercel deployment was submitted but its returned URLs require provider authentication; public Vercel flow remains unverified. Browser run 4613e511f5b74c5482b80be6165d8d55 completed seven missions at 198.3 simulated seconds with zero detected collisions. Screenshot shows this actual run. Results apply only to finite simulation checks. The supervisor supplies ideal localization, clock, physics, proximity sensing and job announcements. Hardware deployment remains future work. Retained 160-run benchmark is historical, not a new hosted benchmark. Team name and registered ID still require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Solution (35 seconds): Robots negotiate mission ownership, share intent and obtain peer permissions before entering shared road zones. As a robot clears its final use of a zone, it releases it. If an aisle blocks its route, it replans through an owned retreat when possible or waits for reopening. This is not a claim of first-ever decentralized coordination. Our product contribution is an inspectable implementation with fault injection, saved evidence and a complete operator workflow. The editable floor schematic shows actual ProcessRuntime state at 20.0 simulated seconds, warehouse map, seed 200, three workers and six jobs with the fixed rule. R1 and R2 wait for permissions; R3 moves toward pickup. This is recorded simulator data, not a screenshot or proof of simultaneous movement. Source: evidence/pitch_snapshot.json.</a:t>
            </a:r>
            <a:endParaRPr/>
          </a:p>
          <a:p xmlns:a="http://schemas.openxmlformats.org/drawingml/2006/main">
            <a:pPr>
              <a:spcBef>
                <a:spcPct val="0"/>
              </a:spcBef>
              <a:buNone/>
            </a:pPr>
            <a:r>
              <a:t/>
            </a:r>
            <a:endParaRPr/>
          </a:p>
          <a:p xmlns:a="http://schemas.openxmlformats.org/drawingml/2006/main">
            <a:pPr>
              <a:spcBef>
                <a:spcPct val="0"/>
              </a:spcBef>
              <a:buNone/>
            </a:pPr>
            <a:r>
              <a:t>Cloud validation, 15 September 2026: Render https://fleetmesh-api.onrender.com/app uses Neon production branch br-purple-pine-b3gbko9x. Vercel deployment was submitted but its returned URLs require provider authentication; public Vercel flow remains unverified. Browser run 4613e511f5b74c5482b80be6165d8d55 completed seven missions at 198.3 simulated seconds with zero detected collisions. Screenshot shows this actual run. Results apply only to finite simulation checks. The supervisor supplies ideal localization, clock, physics, proximity sensing and job announcements. Hardware deployment remains future work. Retained 160-run benchmark is historical, not a new hosted benchmark. Team name and registered ID still require completion.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Technical approach (40 seconds): Three to six independent operating-system processes exchange HMAC-authenticated UDP messages over loopback. Every process owns its planner, mission ledger and permission gate. Per-job auctions allocate unpicked work. Transfers freeze pickup until all peers acknowledge a new owner; picked cargo retains its owner. The supervisor supplies ideal simulated physics, a common clock, local observations and job announcements, but does not plan routes or grant access. The dashboard records state in SQLite. A small local ridge-regression model predicts waiting costs. The fixed rule stays the default because it performs better in most of our current benchmark means. These are laptop processes, not separate edge boards. Source: agent.py, transport.py, simulation.py and model.json. Foundation: Ricart and Agrawala, https://doi.org/10.1145/358527.358537 .</a:t>
            </a:r>
            <a:endParaRPr/>
          </a:p>
          <a:p xmlns:a="http://schemas.openxmlformats.org/drawingml/2006/main">
            <a:pPr>
              <a:spcBef>
                <a:spcPct val="0"/>
              </a:spcBef>
              <a:buNone/>
            </a:pPr>
            <a:r>
              <a:t/>
            </a:r>
            <a:endParaRPr/>
          </a:p>
          <a:p xmlns:a="http://schemas.openxmlformats.org/drawingml/2006/main">
            <a:pPr>
              <a:spcBef>
                <a:spcPct val="0"/>
              </a:spcBef>
              <a:buNone/>
            </a:pPr>
            <a:r>
              <a:t>Cloud validation, 15 September 2026: Render https://fleetmesh-api.onrender.com/app uses Neon production branch br-purple-pine-b3gbko9x. Vercel deployment was submitted but its returned URLs require provider authentication; public Vercel flow remains unverified. Browser run 4613e511f5b74c5482b80be6165d8d55 completed seven missions at 198.3 simulated seconds with zero detected collisions. Screenshot shows this actual run. Results apply only to finite simulation checks. The supervisor supplies ideal localization, clock, physics, proximity sensing and job announcements. Hardware deployment remains future work. Retained 160-run benchmark is historical, not a new hosted benchmark. Team name and registered ID still require completion.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Feasibility (35 seconds): The unchanged development benchmark has 160 completed runs and zero detected collisions. The 1.3 system suite passes 26 tests and the HTTP/UI harness passes 34 checks. Six additional 1.2 process audit cases completed 81 jobs across three, four and six workers without detected collisions. Keep these three kinds of evidence separate. The UI harness uses minimal DOM/canvas stubs with a real HTTP backend, not full browser visual testing. The robot protocol is unchanged from the previous audit. A failed peer retains held zones and can halt progress. We do not expire occupied space on a timer. Next work: safe restart membership, three edge boards, braking/localization trials and an independently defined performance workload. Sources: evidence/tests.txt, ui_http_checks.json, runtime_audit.json, summary.json. No hardware or real Wi-Fi validation has been performed.</a:t>
            </a:r>
            <a:endParaRPr/>
          </a:p>
          <a:p xmlns:a="http://schemas.openxmlformats.org/drawingml/2006/main">
            <a:pPr>
              <a:spcBef>
                <a:spcPct val="0"/>
              </a:spcBef>
              <a:buNone/>
            </a:pPr>
            <a:r>
              <a:t/>
            </a:r>
            <a:endParaRPr/>
          </a:p>
          <a:p xmlns:a="http://schemas.openxmlformats.org/drawingml/2006/main">
            <a:pPr>
              <a:spcBef>
                <a:spcPct val="0"/>
              </a:spcBef>
              <a:buNone/>
            </a:pPr>
            <a:r>
              <a:t>Cloud validation, 15 September 2026: Render https://fleetmesh-api.onrender.com/app uses Neon production branch br-purple-pine-b3gbko9x. Vercel deployment was submitted but its returned URLs require provider authentication; public Vercel flow remains unverified. Browser run 4613e511f5b74c5482b80be6165d8d55 completed seven missions at 198.3 simulated seconds with zero detected collisions. Screenshot shows this actual run. Results apply only to finite simulation checks. The supervisor supplies ideal localization, clock, physics, proximity sensing and job announcements. Hardware deployment remains future work. Retained 160-run benchmark is historical, not a new hosted benchmark. Team name and registered ID still require completion.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Impact (40 seconds): The proposed first customer is an AMR manufacturer or warehouse integrator. Begin with a partner-defined map and workload, then a supervised three-AMR pilot. Integration and support are proposed revenue sources, not measured demand or existing sales. Chart: fixed-rule and learned-delay percentage reductions against the same included sequential baseline, eight paired development seeds in each of five cohorts. Fixed-rule benefits round to 25.2% in extended congestion and 26.0% under injected loss/delay. The predictor's corresponding values are 24.3% and 26.1%. Both reach the 20% target in only two of five cohort means. The fixed rule is faster in four of five. Baseline-to-enhanced differences combine coordination and routing changes; they do not isolate the AI contribution. Mission time includes return to dock. Maps are synthetic, localization ideal, and the baseline conservative. We do not claim superiority over MiR, OTTO or Open-RMF. Sources: evidence/benchmark.csv and summary.json, https://mobile-industrial-robots.com/products/software/mir-fleet , https://ottomotors.com/autonomy/ .</a:t>
            </a:r>
            <a:endParaRPr/>
          </a:p>
          <a:p xmlns:a="http://schemas.openxmlformats.org/drawingml/2006/main">
            <a:pPr>
              <a:spcBef>
                <a:spcPct val="0"/>
              </a:spcBef>
              <a:buNone/>
            </a:pPr>
            <a:r>
              <a:t/>
            </a:r>
            <a:endParaRPr/>
          </a:p>
          <a:p xmlns:a="http://schemas.openxmlformats.org/drawingml/2006/main">
            <a:pPr>
              <a:spcBef>
                <a:spcPct val="0"/>
              </a:spcBef>
              <a:buNone/>
            </a:pPr>
            <a:r>
              <a:t>Cloud validation, 15 September 2026: Render https://fleetmesh-api.onrender.com/app uses Neon production branch br-purple-pine-b3gbko9x. Vercel deployment was submitted but its returned URLs require provider authentication; public Vercel flow remains unverified. Browser run 4613e511f5b74c5482b80be6165d8d55 completed seven missions at 198.3 simulated seconds with zero detected collisions. Screenshot shows this actual run. Results apply only to finite simulation checks. The supervisor supplies ideal localization, clock, physics, proximity sensing and job announcements. Hardware deployment remains future work. Retained 160-run benchmark is historical, not a new hosted benchmark. Team name and registered ID still require completion.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Closing and demo (30 seconds before live walkthrough): The product connects robot decisions with evidence. Launch live demo, select a robot to inspect its reason and route, then use Present. At t=5 an urgent job arrives, t=12 a clear aisle closes, t=20 messages stop, t=28 return, and t=45 the aisle reopens. Outcomes come from the agents. After completion open Run review and the report. For backup select Watch recorded demo, which is clearly labelled and uses an included v1.1 capture: seven completed missions, 198.4 simulated seconds, two route recoveries and one ownership transfer. It is a known demonstration, not a new benchmark. P toggles presentation view and Escape exits it. Ask for support to validate on three edge-controlled AMRs. Research context: https://docs.ros.org/en/ros2_packages/jazzy/api/nav2_collision_monitor/__README.html ; https://discourse.openrobotics.org/t/next-gen-open-rmf-traffic-management/57646 . Winner lessons: MathWorks-verified Solar Masters pairs simulation, hardware and monitoring in https://drive.google.com/file/d/1j2UZkoPTj_1MH4cUCnO_BDQAO8DpbKCn/view ; officially listed SIH 2023 Team Vizion shares its workflow and submission in https://github.com/uzibytes/KnitKraft . These informed demonstration clarity and evidence, not a guarantee of selection. Full linked research is bundled in FleetMesh_SIH_Winner_Research.pdf.</a:t>
            </a:r>
            <a:endParaRPr/>
          </a:p>
          <a:p xmlns:a="http://schemas.openxmlformats.org/drawingml/2006/main">
            <a:pPr>
              <a:spcBef>
                <a:spcPct val="0"/>
              </a:spcBef>
              <a:buNone/>
            </a:pPr>
            <a:r>
              <a:t/>
            </a:r>
            <a:endParaRPr/>
          </a:p>
          <a:p xmlns:a="http://schemas.openxmlformats.org/drawingml/2006/main">
            <a:pPr>
              <a:spcBef>
                <a:spcPct val="0"/>
              </a:spcBef>
              <a:buNone/>
            </a:pPr>
            <a:r>
              <a:t>Cloud validation, 15 September 2026: Render https://fleetmesh-api.onrender.com/app uses Neon production branch br-purple-pine-b3gbko9x. Vercel deployment was submitted but its returned URLs require provider authentication; public Vercel flow remains unverified. Browser run 4613e511f5b74c5482b80be6165d8d55 completed seven missions at 198.3 simulated seconds with zero detected collisions. Screenshot shows this actual run. Results apply only to finite simulation checks. The supervisor supplies ideal localization, clock, physics, proximity sensing and job announcements. Hardware deployment remains future work. Retained 160-run benchmark is historical, not a new hosted benchmark. Team name and registered ID still require completion.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9e33ca46d149e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26bd51fced49d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43d21c7815a407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857fe8d1b2043c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689e88359d49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afe179d946e437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17672ba2519400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c80a6afcc3b44e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f7fdd7f491a4f6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6b14a4c54dc4f2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2fbb7966c9f462e"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2527A43-9360-4BB1-8F09-5A27CDE1F5F7}"/>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6F45019D-C9ED-4A88-A6BF-D816255E5A3D}"/>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A1555A2A-7ADE-41BA-AA3B-F62CF77C615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23E1A34E-04C0-4F9A-B63E-32E51C92FD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083D3C2C-17C5-4585-B794-77B61BE494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EEC140C-8C8A-47E1-8917-B15DB784FE0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9653673-A952-49DB-8229-79C7E0369AA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E1FAE45-1AFB-48F4-B9D0-1A9D93F656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00049A21-98B3-4D9E-AF65-4783D9CBF9F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E7AF4D8A-E68E-4B8F-A342-F59907AD7C2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BB197B6-866F-48FD-AD4F-D039508C7C25}"/>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6253A17-D577-4838-A3B7-0DF6AE96FF2B}"/>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05A21C7B-36E5-42A0-81CE-B89D7AFEDC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3D9C3223-FED3-4684-A42B-455045A8E3C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046287D8-72BA-4755-A05E-F664726B048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5FF70FB-D24B-4D23-A071-76602ECA47A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2703256-7DFC-41F6-B81C-EDA2279774A9}"/>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2929B6E-02C2-4D23-82E7-7BCE15A9A081}"/>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F4F5D949-12C9-4526-8F75-CF61E37C0B7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CEECFC21-6266-42D7-A22F-F125B0332EF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907F30B6-F763-4A9D-8A32-F33D82B9486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BAF015-9904-4E70-A38E-CAF40442F5B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EA12C2D-9C43-48DF-BF45-9503A5E84F5A}"/>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59CFF56-C7A9-478D-82EE-90028C3C1D4B}"/>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BF66DE1F-E370-499E-B0EF-6DB6C8CEE6F9}"/>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4368869-FB9F-4C87-97CF-B1847F58AC63}"/>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DDE3AC9A-4FF1-46C3-B805-7F70FCD789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B8397EC4-15BD-410A-AF56-3C532F4D9B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C1CFF939-D3DF-4BFC-8D70-E31DA00F02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8A4CA66-9F94-41E2-A67E-EAFE6A83811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6B78A4BF-0FB8-4401-B21D-26573BCEF0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5A30FC00-E01C-428F-B013-FDA01E5707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AC176454-23BB-4C2F-A484-FE35F73C75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83E7E235-D758-49D0-A208-9E4587A818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42D78306-8215-47E9-A511-56B6A18625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843D8A66-1EB9-4931-9051-C19848EBE0F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B1217F-01EE-47E5-9D89-D8FC3670E174}"/>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0D236FB-D9EA-4C4F-AE06-ACC9A9D22841}"/>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219507A3-0900-4CAE-97DD-047005349BC4}"/>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F536C5E7-D9CB-42CB-9A73-309A6D07639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8997781B-CC9F-42D9-856A-70ABBD303D5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EB1E482B-3205-4010-9C7F-4F75FEE5FA4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EE5643-155F-4792-8749-AB7E410E6C0D}"/>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5FB95180-42BF-421E-8DDB-82ADDC62B918}"/>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DF8389EE-C812-41D1-BE71-BCFD278FC95E}"/>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4DAADE24-5E2C-49B3-8D32-8D0E3ABB1E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2FA236AF-6C6B-4C7F-8EBC-481593DFFD4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21D61ECB-FD42-4664-95D1-B384B89A474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E91BEA5-3C7D-4469-A69F-9C7BE9FE68F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788555C5-89A7-4230-A14B-D00CA6923B2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E526A7C-CC53-4055-A036-7EED856E3B1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6600C3AF-C309-4CE7-A75F-EE825BAF9F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7414DB39-D433-4E68-B8BC-E3D08D8E86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B1334192-F96B-4F1B-A6CC-E0AEEAC22CE7}"/>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54E2E1A-56A0-4F7C-B4CD-B4CB6AC2B003}"/>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89E55B3-1DFC-4FDE-9032-5E85776C116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F02ED25A-EFF8-4FD9-86A6-BB8581FDC30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477E311E-4DEB-4817-B27E-C41CCC3749B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b3b8f3a8804b7a" /><Relationship Type="http://schemas.openxmlformats.org/officeDocument/2006/relationships/slideLayout" Target="/ppt/slideLayouts/slideLayout1.xml" Id="R5a3c87e3afda42c8" /><Relationship Type="http://schemas.openxmlformats.org/officeDocument/2006/relationships/slideLayout" Target="/ppt/slideLayouts/slideLayout2.xml" Id="R9e29a602b6e84a06" /><Relationship Type="http://schemas.openxmlformats.org/officeDocument/2006/relationships/slideLayout" Target="/ppt/slideLayouts/slideLayout3.xml" Id="Re36449b4ba574ee1" /><Relationship Type="http://schemas.openxmlformats.org/officeDocument/2006/relationships/slideLayout" Target="/ppt/slideLayouts/slideLayout4.xml" Id="Rf4839a5294e94a46" /><Relationship Type="http://schemas.openxmlformats.org/officeDocument/2006/relationships/slideLayout" Target="/ppt/slideLayouts/slideLayout5.xml" Id="R21c7db3512cc449e" /><Relationship Type="http://schemas.openxmlformats.org/officeDocument/2006/relationships/slideLayout" Target="/ppt/slideLayouts/slideLayout6.xml" Id="R38aabe82ed964a58" /><Relationship Type="http://schemas.openxmlformats.org/officeDocument/2006/relationships/slideLayout" Target="/ppt/slideLayouts/slideLayout7.xml" Id="Ra5f1176023764fa6" /><Relationship Type="http://schemas.openxmlformats.org/officeDocument/2006/relationships/slideLayout" Target="/ppt/slideLayouts/slideLayout8.xml" Id="R1ec2bfaaf4514b13" /><Relationship Type="http://schemas.openxmlformats.org/officeDocument/2006/relationships/slideLayout" Target="/ppt/slideLayouts/slideLayout9.xml" Id="R6582975ce8714fd9" /><Relationship Type="http://schemas.openxmlformats.org/officeDocument/2006/relationships/slideLayout" Target="/ppt/slideLayouts/slideLayout10.xml" Id="R2e008ec353a04564" /><Relationship Type="http://schemas.openxmlformats.org/officeDocument/2006/relationships/slideLayout" Target="/ppt/slideLayouts/slideLayout11.xml" Id="R9f2a2a482909476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43BCC98B-0643-401C-83AA-474256C168E2}"/>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72107F21-F85D-4929-AE9F-AEB9CAE1A716}"/>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41F5797-41E1-4C47-84A5-1322F08489E2}"/>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A0DEE29D-1C4C-4C00-A6A8-CF5CE8E5A0C3}"/>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0CD6B898-D13E-4B59-96F4-77FD765C1785}"/>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3c87e3afda42c8"/>
    <p:sldLayoutId xmlns:r="http://schemas.openxmlformats.org/officeDocument/2006/relationships" id="2147483650" r:id="R9e29a602b6e84a06"/>
    <p:sldLayoutId xmlns:r="http://schemas.openxmlformats.org/officeDocument/2006/relationships" id="2147483651" r:id="Re36449b4ba574ee1"/>
    <p:sldLayoutId xmlns:r="http://schemas.openxmlformats.org/officeDocument/2006/relationships" id="2147483652" r:id="Rf4839a5294e94a46"/>
    <p:sldLayoutId xmlns:r="http://schemas.openxmlformats.org/officeDocument/2006/relationships" id="2147483653" r:id="R21c7db3512cc449e"/>
    <p:sldLayoutId xmlns:r="http://schemas.openxmlformats.org/officeDocument/2006/relationships" id="2147483654" r:id="R38aabe82ed964a58"/>
    <p:sldLayoutId xmlns:r="http://schemas.openxmlformats.org/officeDocument/2006/relationships" id="2147483655" r:id="Ra5f1176023764fa6"/>
    <p:sldLayoutId xmlns:r="http://schemas.openxmlformats.org/officeDocument/2006/relationships" id="2147483656" r:id="R1ec2bfaaf4514b13"/>
    <p:sldLayoutId xmlns:r="http://schemas.openxmlformats.org/officeDocument/2006/relationships" id="2147483657" r:id="R6582975ce8714fd9"/>
    <p:sldLayoutId xmlns:r="http://schemas.openxmlformats.org/officeDocument/2006/relationships" id="2147483658" r:id="R2e008ec353a04564"/>
    <p:sldLayoutId xmlns:r="http://schemas.openxmlformats.org/officeDocument/2006/relationships" id="2147483659" r:id="R9f2a2a482909476c"/>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3408b6091a4594" /><Relationship Type="http://schemas.openxmlformats.org/officeDocument/2006/relationships/image" Target="/ppt/media/image.png" Id="Rb1fed14284fc47bc" /><Relationship Type="http://schemas.openxmlformats.org/officeDocument/2006/relationships/image" Target="/ppt/media/image2.png" Id="R0aeb6fa42c53425b" /><Relationship Type="http://schemas.openxmlformats.org/officeDocument/2006/relationships/notesSlide" Target="/ppt/notesSlides/notesSlide1.xml" Id="R18b56219312f4d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1d1f8da88f64591" /><Relationship Type="http://schemas.openxmlformats.org/officeDocument/2006/relationships/image" Target="/ppt/media/image2.png" Id="R778d54391136416f" /><Relationship Type="http://schemas.openxmlformats.org/officeDocument/2006/relationships/image" Target="/ppt/media/image.jpeg" Id="R569b0391c5484675" /><Relationship Type="http://schemas.openxmlformats.org/officeDocument/2006/relationships/notesSlide" Target="/ppt/notesSlides/notesSlide2.xml" Id="Rfdfaaaef663842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1369787fe954d02" /><Relationship Type="http://schemas.openxmlformats.org/officeDocument/2006/relationships/image" Target="/ppt/media/image2.png" Id="Rf3757cd2d8734b96" /><Relationship Type="http://schemas.openxmlformats.org/officeDocument/2006/relationships/notesSlide" Target="/ppt/notesSlides/notesSlide3.xml" Id="R51a9d121593645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d0dad9a8cc34304" /><Relationship Type="http://schemas.openxmlformats.org/officeDocument/2006/relationships/image" Target="/ppt/media/image2.png" Id="R4b031dcde6624cf0" /><Relationship Type="http://schemas.openxmlformats.org/officeDocument/2006/relationships/notesSlide" Target="/ppt/notesSlides/notesSlide4.xml" Id="R9575c807fbeb41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8a60cf468044819" /><Relationship Type="http://schemas.openxmlformats.org/officeDocument/2006/relationships/image" Target="/ppt/media/image2.png" Id="Raef629a4dc7b45c0" /><Relationship Type="http://schemas.openxmlformats.org/officeDocument/2006/relationships/chart" Target="/ppt/slides/charts/chart1.xml" Id="Re400150ad8634ef1" /><Relationship Type="http://schemas.openxmlformats.org/officeDocument/2006/relationships/notesSlide" Target="/ppt/notesSlides/notesSlide5.xml" Id="R694ef772eafb4c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85103e5fe2b4a0d" /><Relationship Type="http://schemas.openxmlformats.org/officeDocument/2006/relationships/image" Target="/ppt/media/image2.png" Id="Rd8d729b4d10f420c" /><Relationship Type="http://schemas.openxmlformats.org/officeDocument/2006/relationships/hyperlink" Target="https://sih.gov.in/sih2026PS" TargetMode="External" Id="R88901e6851be4930" /><Relationship Type="http://schemas.openxmlformats.org/officeDocument/2006/relationships/hyperlink" Target="https://doi.org/10.1145/358527.358537" TargetMode="External" Id="R2b312f78ec8643fe" /><Relationship Type="http://schemas.openxmlformats.org/officeDocument/2006/relationships/hyperlink" Target="https://docs.ros.org/en/ros2_packages/jazzy/api/nav2_collision_monitor/__README.html" TargetMode="External" Id="R284832624afe47cc" /><Relationship Type="http://schemas.openxmlformats.org/officeDocument/2006/relationships/hyperlink" Target="https://mobile-industrial-robots.com/products/software/mir-fleet" TargetMode="External" Id="Reeb43d8dbb50422a" /><Relationship Type="http://schemas.openxmlformats.org/officeDocument/2006/relationships/hyperlink" Target="https://ottomotors.com/autonomy/" TargetMode="External" Id="R6983da0b6e0e44e4" /><Relationship Type="http://schemas.openxmlformats.org/officeDocument/2006/relationships/hyperlink" Target="https://discourse.openrobotics.org/t/next-gen-open-rmf-traffic-management/57646" TargetMode="External" Id="R19ec9d5b03004f58" /><Relationship Type="http://schemas.openxmlformats.org/officeDocument/2006/relationships/notesSlide" Target="/ppt/notesSlides/notesSlide6.xml" Id="R0e6df534ec2849b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Fixed-rule reduction</c:v>
          </c:tx>
          <c:spPr>
            <a:solidFill xmlns:a="http://schemas.openxmlformats.org/drawingml/2006/main">
              <a:srgbClr val="14754B"/>
            </a:solidFill>
          </c:spPr>
          <c:cat>
            <c:strRef>
              <c:f>'Chart Data'!$A$2:$A$6</c:f>
              <c:strCache>
                <c:ptCount val="5"/>
                <c:pt idx="0">
                  <c:v>Compact
normal</c:v>
                </c:pt>
                <c:pt idx="1">
                  <c:v>Warehouse
normal</c:v>
                </c:pt>
                <c:pt idx="2">
                  <c:v>Extended
congestion</c:v>
                </c:pt>
                <c:pt idx="3">
                  <c:v>Loss +
delay</c:v>
                </c:pt>
                <c:pt idx="4">
                  <c:v>Blocked
aisle</c:v>
                </c:pt>
              </c:strCache>
            </c:strRef>
          </c:cat>
          <c:val>
            <c:numRef>
              <c:f>'Chart Data'!$B$2:$B$6</c:f>
              <c:numCache>
                <c:formatCode>0.0%</c:formatCode>
                <c:ptCount val="5"/>
                <c:pt idx="0">
                  <c:v>0.11872</c:v>
                </c:pt>
                <c:pt idx="1">
                  <c:v>0.187115</c:v>
                </c:pt>
                <c:pt idx="2">
                  <c:v>0.251857</c:v>
                </c:pt>
                <c:pt idx="3">
                  <c:v>0.259723</c:v>
                </c:pt>
                <c:pt idx="4">
                  <c:v>0.197075</c:v>
                </c:pt>
              </c:numCache>
            </c:numRef>
          </c:val>
        </c:ser>
        <c:ser>
          <c:idx val="1"/>
          <c:order val="1"/>
          <c:tx>
            <c:v>Learned-delay reduction</c:v>
          </c:tx>
          <c:spPr>
            <a:solidFill xmlns:a="http://schemas.openxmlformats.org/drawingml/2006/main">
              <a:srgbClr val="7799B6"/>
            </a:solidFill>
          </c:spPr>
          <c:cat>
            <c:strRef>
              <c:f>'Chart Data'!$C$2:$C$6</c:f>
              <c:strCache>
                <c:ptCount val="5"/>
                <c:pt idx="0">
                  <c:v>Compact
normal</c:v>
                </c:pt>
                <c:pt idx="1">
                  <c:v>Warehouse
normal</c:v>
                </c:pt>
                <c:pt idx="2">
                  <c:v>Extended
congestion</c:v>
                </c:pt>
                <c:pt idx="3">
                  <c:v>Loss +
delay</c:v>
                </c:pt>
                <c:pt idx="4">
                  <c:v>Blocked
aisle</c:v>
                </c:pt>
              </c:strCache>
            </c:strRef>
          </c:cat>
          <c:val>
            <c:numRef>
              <c:f>'Chart Data'!$D$2:$D$6</c:f>
              <c:numCache>
                <c:formatCode>0.0%</c:formatCode>
                <c:ptCount val="5"/>
                <c:pt idx="0">
                  <c:v>0.112725</c:v>
                </c:pt>
                <c:pt idx="1">
                  <c:v>0.177294</c:v>
                </c:pt>
                <c:pt idx="2">
                  <c:v>0.242653</c:v>
                </c:pt>
                <c:pt idx="3">
                  <c:v>0.260606</c:v>
                </c:pt>
                <c:pt idx="4">
                  <c:v>0.188627</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02D43"/>
                  </a:solidFill>
                  <a:latin typeface="Arial"/>
                  <a:ea typeface="Arial"/>
                  <a:cs typeface="Arial"/>
                </a:defRPr>
              </a:pPr>
            </a:p>
          </c:txPr>
          <c:dLblPos val="outEnd"/>
          <c:showLegendKey val="0"/>
          <c:showVal val="1"/>
          <c:showCatName val="0"/>
          <c:showSerName val="0"/>
          <c:showPercent val="0"/>
          <c:showBubbleSize val="0"/>
          <c:showLeaderLines val="0"/>
        </c:dLbls>
        <c:gapWidth val="76"/>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DDAE3"/>
            </a:solidFill>
          </a:ln>
        </c:spPr>
        <c:txPr>
          <a:bodyPr xmlns:a="http://schemas.openxmlformats.org/drawingml/2006/main" anchorCtr="1"/>
          <a:lstStyle xmlns:a="http://schemas.openxmlformats.org/drawingml/2006/main"/>
          <a:p xmlns:a="http://schemas.openxmlformats.org/drawingml/2006/main">
            <a:pPr>
              <a:defRPr sz="1350">
                <a:solidFill>
                  <a:srgbClr val="203544"/>
                </a:solidFill>
                <a:latin typeface="Arial"/>
                <a:ea typeface="Arial"/>
                <a:cs typeface="Arial"/>
              </a:defRPr>
            </a:pPr>
          </a:p>
        </c:txPr>
        <c:crossAx val="48672768"/>
      </c:catAx>
      <c:valAx>
        <c:axId val="48672768"/>
        <c:scaling>
          <c:orientation val="minMax"/>
          <c:max val="0.35"/>
          <c:min val="0"/>
        </c:scaling>
        <c:delete val="0"/>
        <c:axPos val="l"/>
        <c:majorGridlines>
          <c:spPr>
            <a:ln xmlns:a="http://schemas.openxmlformats.org/drawingml/2006/main" w="9525">
              <a:solidFill>
                <a:srgbClr val="DDE6EC"/>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36778"/>
                </a:solidFill>
                <a:latin typeface="Arial"/>
                <a:ea typeface="Arial"/>
                <a:cs typeface="Arial"/>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48"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b1fed14284fc47bc"/>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D7607AC0-1E09-4F5A-AB0C-8AF159A6EDDA}"/>
              </a:ext>
            </a:extLst>
          </p:cNvPr>
          <p:cNvSpPr>
            <a:spLocks xmlns:a="http://schemas.openxmlformats.org/drawingml/2006/main" noGrp="1"/>
          </p:cNvSpPr>
          <p:nvPr>
            <p:ph type="subTitle" idx="1"/>
          </p:nvPr>
        </p:nvSpPr>
        <p:spPr>
          <a:xfrm xmlns:a="http://schemas.openxmlformats.org/drawingml/2006/main">
            <a:off x="419100" y="1323975"/>
            <a:ext cx="5715000" cy="971550"/>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925" b="1">
                <a:solidFill>
                  <a:srgbClr val="1F497D"/>
                </a:solidFill>
                <a:latin typeface="Arial"/>
                <a:ea typeface="Arial"/>
                <a:cs typeface="Arial"/>
              </a:defRPr>
            </a:pPr>
            <a:r>
              <a:rPr sz="5925" b="1">
                <a:solidFill>
                  <a:srgbClr val="1F497D"/>
                </a:solidFill>
                <a:latin typeface="Arial"/>
                <a:ea typeface="Arial"/>
                <a:cs typeface="Arial"/>
              </a:rPr>
              <a:t>FleetMesh</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BDAB3720-43D9-4224-8085-8E91C3D6EB1F}"/>
              </a:ext>
            </a:extLst>
          </p:cNvPr>
          <p:cNvSpPr>
            <a:spLocks xmlns:a="http://schemas.openxmlformats.org/drawingml/2006/main" noGrp="1"/>
          </p:cNvSpPr>
          <p:nvPr>
            <p:ph type="ctrTitle" idx="0"/>
          </p:nvPr>
        </p:nvSpPr>
        <p:spPr>
          <a:xfrm xmlns:a="http://schemas.openxmlformats.org/drawingml/2006/main">
            <a:off x="457200" y="133350"/>
            <a:ext cx="9258300" cy="6858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900" b="1">
                <a:solidFill>
                  <a:srgbClr val="1F497D"/>
                </a:solidFill>
                <a:latin typeface="Times New Roman"/>
                <a:ea typeface="Times New Roman"/>
                <a:cs typeface="Times New Roman"/>
              </a:defRPr>
            </a:pPr>
            <a:r>
              <a:rPr sz="3900" b="1">
                <a:solidFill>
                  <a:srgbClr val="1F497D"/>
                </a:solidFill>
                <a:latin typeface="Times New Roman"/>
                <a:ea typeface="Times New Roman"/>
                <a:cs typeface="Times New Roman"/>
              </a:rPr>
              <a:t>SMART INDIA HACKATHON 2026</a:t>
            </a:r>
            <a:endParaRPr sz="4000" b="1">
              <a:solidFill>
                <a:schemeClr val="tx2"/>
              </a:solidFill>
              <a:latin typeface="Garamond"/>
              <a:ea typeface="Garamond"/>
              <a:cs typeface="Garamond"/>
            </a:endParaRPr>
          </a:p>
        </p:txBody>
      </p:sp>
      <p:sp>
        <p:nvSpPr>
          <p:cNvPr id="10" name="TextBox 9">
            <a:extLst xmlns:a="http://schemas.openxmlformats.org/drawingml/2006/main">
              <a:ext uri="{FF2B5EF4-FFF2-40B4-BE49-F238E27FC236}">
                <a16:creationId xmlns:a16="http://schemas.microsoft.com/office/drawing/2014/main" id="{F73B3ACB-6987-497C-9FBC-BD71E1163897}"/>
              </a:ext>
            </a:extLst>
          </p:cNvPr>
          <p:cNvSpPr>
            <a:spLocks xmlns:a="http://schemas.openxmlformats.org/drawingml/2006/main" noGrp="1"/>
          </p:cNvSpPr>
          <p:nvPr/>
        </p:nvSpPr>
        <p:spPr>
          <a:xfrm xmlns:a="http://schemas.openxmlformats.org/drawingml/2006/main">
            <a:off x="457200" y="2343150"/>
            <a:ext cx="5676900" cy="86677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spcAft>
                <a:spcPts val="1100"/>
              </a:spcAft>
              <a:buNone/>
              <a:defRPr sz="2625" b="1">
                <a:solidFill>
                  <a:srgbClr val="102D43"/>
                </a:solidFill>
                <a:latin typeface="Arial"/>
                <a:ea typeface="Arial"/>
                <a:cs typeface="Arial"/>
              </a:defRPr>
            </a:pPr>
            <a:r>
              <a:rPr sz="2625" b="1">
                <a:solidFill>
                  <a:srgbClr val="102D43"/>
                </a:solidFill>
                <a:latin typeface="Arial"/>
                <a:ea typeface="Arial"/>
                <a:cs typeface="Arial"/>
              </a:rPr>
              <a:t>Local coordination for</a:t>
            </a:r>
          </a:p>
          <a:p xmlns:a="http://schemas.openxmlformats.org/drawingml/2006/main">
            <a:pPr algn="l">
              <a:spcAft>
                <a:spcPts val="450"/>
              </a:spcAft>
              <a:buNone/>
              <a:defRPr sz="2625" b="1">
                <a:solidFill>
                  <a:srgbClr val="102D43"/>
                </a:solidFill>
                <a:latin typeface="Arial"/>
                <a:ea typeface="Arial"/>
                <a:cs typeface="Arial"/>
              </a:defRPr>
            </a:pPr>
            <a:r>
              <a:rPr sz="2625" b="1">
                <a:solidFill>
                  <a:srgbClr val="102D43"/>
                </a:solidFill>
                <a:latin typeface="Arial"/>
                <a:ea typeface="Arial"/>
                <a:cs typeface="Arial"/>
              </a:rPr>
              <a:t>warehouse robot fleets</a:t>
            </a:r>
          </a:p>
        </p:txBody>
      </p:sp>
      <p:pic>
        <p:nvPicPr>
          <p:cNvPr id="52" name="Picture 1"/>
          <p:cNvPicPr>
            <a:picLocks xmlns:a="http://schemas.openxmlformats.org/drawingml/2006/main" noChangeAspect="1"/>
          </p:cNvPicPr>
          <p:nvPr/>
        </p:nvPicPr>
        <p:blipFill>
          <a:blip xmlns:r="http://schemas.openxmlformats.org/officeDocument/2006/relationships" xmlns:a="http://schemas.openxmlformats.org/drawingml/2006/main" r:embed="R0aeb6fa42c53425b"/>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0" name="Problem Statement ID: 26123">
            <a:extLst xmlns:a="http://schemas.openxmlformats.org/drawingml/2006/main">
              <a:ext uri="{FF2B5EF4-FFF2-40B4-BE49-F238E27FC236}">
                <a16:creationId xmlns:a16="http://schemas.microsoft.com/office/drawing/2014/main" id="{7A07A149-7853-4010-A108-12FE59A78D0B}"/>
              </a:ext>
            </a:extLst>
          </p:cNvPr>
          <p:cNvSpPr>
            <a:spLocks xmlns:a="http://schemas.openxmlformats.org/drawingml/2006/main" noGrp="1"/>
          </p:cNvSpPr>
          <p:nvPr/>
        </p:nvSpPr>
        <p:spPr>
          <a:xfrm xmlns:a="http://schemas.openxmlformats.org/drawingml/2006/main">
            <a:off x="457200" y="3495675"/>
            <a:ext cx="5791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F497D"/>
                </a:solidFill>
                <a:latin typeface="Arial"/>
                <a:ea typeface="Arial"/>
                <a:cs typeface="Arial"/>
              </a:defRPr>
            </a:pPr>
            <a:r>
              <a:rPr sz="1950" b="1">
                <a:solidFill>
                  <a:srgbClr val="1F497D"/>
                </a:solidFill>
                <a:latin typeface="Arial"/>
                <a:ea typeface="Arial"/>
                <a:cs typeface="Arial"/>
              </a:rPr>
              <a:t>Problem Statement ID: 26123</a:t>
            </a:r>
          </a:p>
        </p:txBody>
      </p:sp>
      <p:sp>
        <p:nvSpPr>
          <p:cNvPr id="41" name="Edge-AI Based Distributed Fleet Coordination ">
            <a:extLst xmlns:a="http://schemas.openxmlformats.org/drawingml/2006/main">
              <a:ext uri="{FF2B5EF4-FFF2-40B4-BE49-F238E27FC236}">
                <a16:creationId xmlns:a16="http://schemas.microsoft.com/office/drawing/2014/main" id="{CB01166D-6C47-405C-B9DE-2460024C3427}"/>
              </a:ext>
            </a:extLst>
          </p:cNvPr>
          <p:cNvSpPr>
            <a:spLocks xmlns:a="http://schemas.openxmlformats.org/drawingml/2006/main" noGrp="1"/>
          </p:cNvSpPr>
          <p:nvPr/>
        </p:nvSpPr>
        <p:spPr>
          <a:xfrm xmlns:a="http://schemas.openxmlformats.org/drawingml/2006/main">
            <a:off x="457200" y="3924300"/>
            <a:ext cx="58293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203544"/>
                </a:solidFill>
                <a:latin typeface="Arial"/>
                <a:ea typeface="Arial"/>
                <a:cs typeface="Arial"/>
              </a:defRPr>
            </a:pPr>
            <a:r>
              <a:rPr sz="1800" b="0">
                <a:solidFill>
                  <a:srgbClr val="203544"/>
                </a:solidFill>
                <a:latin typeface="Arial"/>
                <a:ea typeface="Arial"/>
                <a:cs typeface="Arial"/>
              </a:rPr>
              <a:t>Edge-AI Based Distributed Fleet Coordination for</a:t>
            </a:r>
          </a:p>
          <a:p xmlns:a="http://schemas.openxmlformats.org/drawingml/2006/main">
            <a:pPr algn="l">
              <a:buNone/>
              <a:defRPr sz="1800" b="0">
                <a:solidFill>
                  <a:srgbClr val="203544"/>
                </a:solidFill>
                <a:latin typeface="Arial"/>
                <a:ea typeface="Arial"/>
                <a:cs typeface="Arial"/>
              </a:defRPr>
            </a:pPr>
            <a:r>
              <a:rPr sz="1800" b="0">
                <a:solidFill>
                  <a:srgbClr val="203544"/>
                </a:solidFill>
                <a:latin typeface="Arial"/>
                <a:ea typeface="Arial"/>
                <a:cs typeface="Arial"/>
              </a:rPr>
              <a:t>Autonomous Mobile Robots (AMRs) in Smart Warehouses</a:t>
            </a:r>
          </a:p>
        </p:txBody>
      </p:sp>
      <p:sp>
        <p:nvSpPr>
          <p:cNvPr id="42" name="Theme: Smart Automation&#10;PS Category: Software">
            <a:extLst xmlns:a="http://schemas.openxmlformats.org/drawingml/2006/main">
              <a:ext uri="{FF2B5EF4-FFF2-40B4-BE49-F238E27FC236}">
                <a16:creationId xmlns:a16="http://schemas.microsoft.com/office/drawing/2014/main" id="{C68660E8-B630-4863-92B7-022F7DCA950A}"/>
              </a:ext>
            </a:extLst>
          </p:cNvPr>
          <p:cNvSpPr>
            <a:spLocks xmlns:a="http://schemas.openxmlformats.org/drawingml/2006/main" noGrp="1"/>
          </p:cNvSpPr>
          <p:nvPr/>
        </p:nvSpPr>
        <p:spPr>
          <a:xfrm xmlns:a="http://schemas.openxmlformats.org/drawingml/2006/main">
            <a:off x="457200" y="4905375"/>
            <a:ext cx="5715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203544"/>
                </a:solidFill>
                <a:latin typeface="Arial"/>
                <a:ea typeface="Arial"/>
                <a:cs typeface="Arial"/>
              </a:defRPr>
            </a:pPr>
            <a:r>
              <a:rPr sz="1875" b="0">
                <a:solidFill>
                  <a:srgbClr val="203544"/>
                </a:solidFill>
                <a:latin typeface="Arial"/>
                <a:ea typeface="Arial"/>
                <a:cs typeface="Arial"/>
              </a:rPr>
              <a:t>Theme: Smart Automation</a:t>
            </a:r>
          </a:p>
          <a:p xmlns:a="http://schemas.openxmlformats.org/drawingml/2006/main">
            <a:pPr algn="l">
              <a:buNone/>
              <a:defRPr sz="1875" b="0">
                <a:solidFill>
                  <a:srgbClr val="203544"/>
                </a:solidFill>
                <a:latin typeface="Arial"/>
                <a:ea typeface="Arial"/>
                <a:cs typeface="Arial"/>
              </a:defRPr>
            </a:pPr>
            <a:r>
              <a:rPr sz="1875" b="0">
                <a:solidFill>
                  <a:srgbClr val="203544"/>
                </a:solidFill>
                <a:latin typeface="Arial"/>
                <a:ea typeface="Arial"/>
                <a:cs typeface="Arial"/>
              </a:rPr>
              <a:t>PS Category: Software</a:t>
            </a:r>
          </a:p>
        </p:txBody>
      </p:sp>
      <p:sp>
        <p:nvSpPr>
          <p:cNvPr id="43" name="Team ID: [Enter registered ID]&#10;Team Name: [En">
            <a:extLst xmlns:a="http://schemas.openxmlformats.org/drawingml/2006/main">
              <a:ext uri="{FF2B5EF4-FFF2-40B4-BE49-F238E27FC236}">
                <a16:creationId xmlns:a16="http://schemas.microsoft.com/office/drawing/2014/main" id="{DDE24F40-406F-4C97-BE87-B3E71A31000F}"/>
              </a:ext>
            </a:extLst>
          </p:cNvPr>
          <p:cNvSpPr>
            <a:spLocks xmlns:a="http://schemas.openxmlformats.org/drawingml/2006/main" noGrp="1"/>
          </p:cNvSpPr>
          <p:nvPr/>
        </p:nvSpPr>
        <p:spPr>
          <a:xfrm xmlns:a="http://schemas.openxmlformats.org/drawingml/2006/main">
            <a:off x="457200" y="5915025"/>
            <a:ext cx="733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36778"/>
                </a:solidFill>
                <a:latin typeface="Arial"/>
                <a:ea typeface="Arial"/>
                <a:cs typeface="Arial"/>
              </a:defRPr>
            </a:pPr>
            <a:r>
              <a:rPr sz="1725" b="0">
                <a:solidFill>
                  <a:srgbClr val="536778"/>
                </a:solidFill>
                <a:latin typeface="Arial"/>
                <a:ea typeface="Arial"/>
                <a:cs typeface="Arial"/>
              </a:rPr>
              <a:t>Team ID: [Enter registered ID]</a:t>
            </a:r>
          </a:p>
          <a:p xmlns:a="http://schemas.openxmlformats.org/drawingml/2006/main">
            <a:pPr algn="l">
              <a:buNone/>
              <a:defRPr sz="1725" b="0">
                <a:solidFill>
                  <a:srgbClr val="536778"/>
                </a:solidFill>
                <a:latin typeface="Arial"/>
                <a:ea typeface="Arial"/>
                <a:cs typeface="Arial"/>
              </a:defRPr>
            </a:pPr>
            <a:r>
              <a:rPr sz="1725" b="0">
                <a:solidFill>
                  <a:srgbClr val="536778"/>
                </a:solidFill>
                <a:latin typeface="Arial"/>
                <a:ea typeface="Arial"/>
                <a:cs typeface="Arial"/>
              </a:rPr>
              <a:t>Team Name: [Enter registered team name]</a:t>
            </a:r>
          </a:p>
        </p:txBody>
      </p:sp>
    </p:spTree>
    <p:extLst>
      <p:ext uri="{BB962C8B-B14F-4D97-AF65-F5344CB8AC3E}">
        <p14:creationId xmlns:p14="http://schemas.microsoft.com/office/powerpoint/2010/main" val="91625518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C9D1918E-3305-438D-83E3-E2C07F341ACE}"/>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E56F7938-245E-4F26-A90E-0778418D8F51}"/>
              </a:ext>
            </a:extLst>
          </p:cNvPr>
          <p:cNvSpPr>
            <a:spLocks xmlns:a="http://schemas.openxmlformats.org/drawingml/2006/main" noGrp="1"/>
          </p:cNvSpPr>
          <p:nvPr>
            <p:ph type="title" idx="0"/>
          </p:nvPr>
        </p:nvSpPr>
        <p:spPr>
          <a:xfrm xmlns:a="http://schemas.openxmlformats.org/drawingml/2006/main">
            <a:off x="1809750" y="209550"/>
            <a:ext cx="7829550" cy="9144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FLEETMESH</a:t>
            </a:r>
          </a:p>
        </p:txBody>
      </p:sp>
      <p:sp>
        <p:nvSpPr>
          <p:cNvPr id="15362" name="TextBox 8">
            <a:extLst xmlns:a="http://schemas.openxmlformats.org/drawingml/2006/main">
              <a:ext uri="{FF2B5EF4-FFF2-40B4-BE49-F238E27FC236}">
                <a16:creationId xmlns:a16="http://schemas.microsoft.com/office/drawing/2014/main" id="{7AB1746F-43A4-41D1-8C3C-A85AF209DD11}"/>
              </a:ext>
            </a:extLst>
          </p:cNvPr>
          <p:cNvSpPr>
            <a:spLocks xmlns:a="http://schemas.openxmlformats.org/drawingml/2006/main" noGrp="1"/>
          </p:cNvSpPr>
          <p:nvPr/>
        </p:nvSpPr>
        <p:spPr>
          <a:xfrm xmlns:a="http://schemas.openxmlformats.org/drawingml/2006/main">
            <a:off x="609600" y="1495425"/>
            <a:ext cx="10972800" cy="333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F497D"/>
                </a:solidFill>
                <a:latin typeface="Arial"/>
                <a:ea typeface="Arial"/>
                <a:cs typeface="Arial"/>
              </a:defRPr>
            </a:pPr>
            <a:r>
              <a:rPr sz="1875" b="1">
                <a:solidFill>
                  <a:srgbClr val="1F497D"/>
                </a:solidFill>
                <a:latin typeface="Arial"/>
                <a:ea typeface="Arial"/>
                <a:cs typeface="Arial"/>
              </a:rPr>
              <a:t>Proposed Solution</a:t>
            </a:r>
          </a:p>
        </p:txBody>
      </p:sp>
      <p:sp>
        <p:nvSpPr>
          <p:cNvPr id="6" name="Slide Number Placeholder 5">
            <a:extLst xmlns:a="http://schemas.openxmlformats.org/drawingml/2006/main">
              <a:ext uri="{FF2B5EF4-FFF2-40B4-BE49-F238E27FC236}">
                <a16:creationId xmlns:a16="http://schemas.microsoft.com/office/drawing/2014/main" id="{89F00BBB-F0B0-476B-9753-5BE9B0DD1E03}"/>
              </a:ext>
            </a:extLst>
          </p:cNvPr>
          <p:cNvSpPr>
            <a:spLocks xmlns:a="http://schemas.openxmlformats.org/drawingml/2006/main" noGrp="1"/>
          </p:cNvSpPr>
          <p:nvPr>
            <p:ph type="sldNum" idx="12"/>
          </p:nvPr>
        </p:nvSpPr>
        <p:spPr>
          <a:xfrm xmlns:a="http://schemas.openxmlformats.org/drawingml/2006/main">
            <a:off x="11344275" y="6448425"/>
            <a:ext cx="381000" cy="247650"/>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FFFFFF"/>
                </a:solidFill>
                <a:latin typeface="Arial"/>
                <a:ea typeface="Arial"/>
                <a:cs typeface="Arial"/>
              </a:defRPr>
            </a:pPr>
            <a:fld id="{E2598689-54C9-18A7-3A19-ED76AA08988F}" type="slidenum">
              <a:rPr sz="1200" b="1">
                <a:solidFill>
                  <a:srgbClr val="FFFFFF"/>
                </a:solidFill>
                <a:latin typeface="Arial"/>
                <a:ea typeface="Arial"/>
                <a:cs typeface="Aria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FDBD7257-7D2C-4C4F-9CAB-EA6A3EEE9873}"/>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[Team</a:t>
            </a:r>
            <a:endParaRPr/>
          </a:p>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name]</a:t>
            </a:r>
            <a:endParaRPr/>
          </a:p>
        </p:txBody>
      </p:sp>
      <p:pic>
        <p:nvPicPr>
          <p:cNvPr id="15450" name="Picture 10"/>
          <p:cNvPicPr>
            <a:picLocks xmlns:a="http://schemas.openxmlformats.org/drawingml/2006/main" noChangeAspect="1"/>
          </p:cNvPicPr>
          <p:nvPr/>
        </p:nvPicPr>
        <p:blipFill>
          <a:blip xmlns:r="http://schemas.openxmlformats.org/officeDocument/2006/relationships" xmlns:a="http://schemas.openxmlformats.org/drawingml/2006/main" r:embed="R778d54391136416f"/>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5372" name="Robots agree before shared routes overlap">
            <a:extLst xmlns:a="http://schemas.openxmlformats.org/drawingml/2006/main">
              <a:ext uri="{FF2B5EF4-FFF2-40B4-BE49-F238E27FC236}">
                <a16:creationId xmlns:a16="http://schemas.microsoft.com/office/drawing/2014/main" id="{08DE5134-CFC7-4FC9-8AF8-47B7F3BEC5FA}"/>
              </a:ext>
            </a:extLst>
          </p:cNvPr>
          <p:cNvSpPr>
            <a:spLocks xmlns:a="http://schemas.openxmlformats.org/drawingml/2006/main" noGrp="1"/>
          </p:cNvSpPr>
          <p:nvPr/>
        </p:nvSpPr>
        <p:spPr>
          <a:xfrm xmlns:a="http://schemas.openxmlformats.org/drawingml/2006/main">
            <a:off x="609600" y="19335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75" b="1">
                <a:solidFill>
                  <a:srgbClr val="102D43"/>
                </a:solidFill>
                <a:latin typeface="Arial"/>
                <a:ea typeface="Arial"/>
                <a:cs typeface="Arial"/>
              </a:defRPr>
            </a:pPr>
            <a:r>
              <a:rPr sz="2775" b="1">
                <a:solidFill>
                  <a:srgbClr val="102D43"/>
                </a:solidFill>
                <a:latin typeface="Arial"/>
                <a:ea typeface="Arial"/>
                <a:cs typeface="Arial"/>
              </a:rPr>
              <a:t>Robots agree before shared routes overlap</a:t>
            </a:r>
          </a:p>
        </p:txBody>
      </p:sp>
      <p:sp>
        <p:nvSpPr>
          <p:cNvPr id="15373" name="Simulator state at 20.0 s (fixed routing rule">
            <a:extLst xmlns:a="http://schemas.openxmlformats.org/drawingml/2006/main">
              <a:ext uri="{FF2B5EF4-FFF2-40B4-BE49-F238E27FC236}">
                <a16:creationId xmlns:a16="http://schemas.microsoft.com/office/drawing/2014/main" id="{ACE25179-68EF-4735-BBA1-D38CCCDA8E32}"/>
              </a:ext>
            </a:extLst>
          </p:cNvPr>
          <p:cNvSpPr>
            <a:spLocks xmlns:a="http://schemas.openxmlformats.org/drawingml/2006/main" noGrp="1"/>
          </p:cNvSpPr>
          <p:nvPr/>
        </p:nvSpPr>
        <p:spPr>
          <a:xfrm xmlns:a="http://schemas.openxmlformats.org/drawingml/2006/main">
            <a:off x="609600" y="25717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36778"/>
                </a:solidFill>
                <a:latin typeface="Arial"/>
                <a:ea typeface="Arial"/>
                <a:cs typeface="Arial"/>
              </a:defRPr>
            </a:pPr>
            <a:r>
              <a:rPr sz="1575" b="0">
                <a:solidFill>
                  <a:srgbClr val="536778"/>
                </a:solidFill>
                <a:latin typeface="Arial"/>
                <a:ea typeface="Arial"/>
                <a:cs typeface="Arial"/>
              </a:rPr>
              <a:t>Hosted result: three independent robot processes</a:t>
            </a:r>
          </a:p>
        </p:txBody>
      </p:sp>
      <p:sp>
        <p:nvSpPr>
          <p:cNvPr id="15435" name="R1 and R2 wait for grants. R3 is moving.">
            <a:extLst xmlns:a="http://schemas.openxmlformats.org/drawingml/2006/main">
              <a:ext uri="{FF2B5EF4-FFF2-40B4-BE49-F238E27FC236}">
                <a16:creationId xmlns:a16="http://schemas.microsoft.com/office/drawing/2014/main" id="{D400CF02-F74B-4747-B3E2-9024582F5F99}"/>
              </a:ext>
            </a:extLst>
          </p:cNvPr>
          <p:cNvSpPr>
            <a:spLocks xmlns:a="http://schemas.openxmlformats.org/drawingml/2006/main" noGrp="1"/>
          </p:cNvSpPr>
          <p:nvPr/>
        </p:nvSpPr>
        <p:spPr>
          <a:xfrm xmlns:a="http://schemas.openxmlformats.org/drawingml/2006/main">
            <a:off x="609600" y="5838825"/>
            <a:ext cx="5391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02D43"/>
                </a:solidFill>
                <a:latin typeface="Arial"/>
                <a:ea typeface="Arial"/>
                <a:cs typeface="Arial"/>
              </a:defRPr>
            </a:pPr>
            <a:r>
              <a:rPr sz="1725" b="1">
                <a:solidFill>
                  <a:srgbClr val="102D43"/>
                </a:solidFill>
                <a:latin typeface="Arial"/>
                <a:ea typeface="Arial"/>
                <a:cs typeface="Arial"/>
              </a:rPr>
              <a:t>7/7 missions in 198.3 s. Zero detected collisions.</a:t>
            </a:r>
          </a:p>
        </p:txBody>
      </p:sp>
      <p:sp>
        <p:nvSpPr>
          <p:cNvPr id="15436" name="Detailed explanation of the proposed solution">
            <a:extLst xmlns:a="http://schemas.openxmlformats.org/drawingml/2006/main">
              <a:ext uri="{FF2B5EF4-FFF2-40B4-BE49-F238E27FC236}">
                <a16:creationId xmlns:a16="http://schemas.microsoft.com/office/drawing/2014/main" id="{C8A6862B-CDDE-4CCD-A36D-B0A6300D5021}"/>
              </a:ext>
            </a:extLst>
          </p:cNvPr>
          <p:cNvSpPr>
            <a:spLocks xmlns:a="http://schemas.openxmlformats.org/drawingml/2006/main" noGrp="1"/>
          </p:cNvSpPr>
          <p:nvPr/>
        </p:nvSpPr>
        <p:spPr>
          <a:xfrm xmlns:a="http://schemas.openxmlformats.org/drawingml/2006/main">
            <a:off x="6429375" y="2676525"/>
            <a:ext cx="51530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F497D"/>
                </a:solidFill>
                <a:latin typeface="Arial"/>
                <a:ea typeface="Arial"/>
                <a:cs typeface="Arial"/>
              </a:defRPr>
            </a:pPr>
            <a:r>
              <a:rPr sz="1800" b="1">
                <a:solidFill>
                  <a:srgbClr val="1F497D"/>
                </a:solidFill>
                <a:latin typeface="Arial"/>
                <a:ea typeface="Arial"/>
                <a:cs typeface="Arial"/>
              </a:rPr>
              <a:t>Detailed explanation of the proposed solution</a:t>
            </a:r>
          </a:p>
        </p:txBody>
      </p:sp>
      <p:sp>
        <p:nvSpPr>
          <p:cNvPr id="15437" name="Each robot owns its planner.&#10;Peers share inte">
            <a:extLst xmlns:a="http://schemas.openxmlformats.org/drawingml/2006/main">
              <a:ext uri="{FF2B5EF4-FFF2-40B4-BE49-F238E27FC236}">
                <a16:creationId xmlns:a16="http://schemas.microsoft.com/office/drawing/2014/main" id="{1C8DCDD5-7442-4549-96CC-47F83CBDF054}"/>
              </a:ext>
            </a:extLst>
          </p:cNvPr>
          <p:cNvSpPr>
            <a:spLocks xmlns:a="http://schemas.openxmlformats.org/drawingml/2006/main" noGrp="1"/>
          </p:cNvSpPr>
          <p:nvPr/>
        </p:nvSpPr>
        <p:spPr>
          <a:xfrm xmlns:a="http://schemas.openxmlformats.org/drawingml/2006/main">
            <a:off x="6429375" y="3314700"/>
            <a:ext cx="51530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203544"/>
                </a:solidFill>
                <a:latin typeface="Arial"/>
                <a:ea typeface="Arial"/>
                <a:cs typeface="Arial"/>
              </a:defRPr>
            </a:pPr>
            <a:r>
              <a:rPr sz="2100" b="0">
                <a:solidFill>
                  <a:srgbClr val="203544"/>
                </a:solidFill>
                <a:latin typeface="Arial"/>
                <a:ea typeface="Arial"/>
                <a:cs typeface="Arial"/>
              </a:rPr>
              <a:t>Each robot owns its planner.</a:t>
            </a:r>
          </a:p>
          <a:p xmlns:a="http://schemas.openxmlformats.org/drawingml/2006/main">
            <a:pPr algn="l">
              <a:buNone/>
              <a:defRPr sz="2100" b="0">
                <a:solidFill>
                  <a:srgbClr val="203544"/>
                </a:solidFill>
                <a:latin typeface="Arial"/>
                <a:ea typeface="Arial"/>
                <a:cs typeface="Arial"/>
              </a:defRPr>
            </a:pPr>
            <a:r>
              <a:rPr sz="2100" b="0">
                <a:solidFill>
                  <a:srgbClr val="203544"/>
                </a:solidFill>
                <a:latin typeface="Arial"/>
                <a:ea typeface="Arial"/>
                <a:cs typeface="Arial"/>
              </a:rPr>
              <a:t>Peers share intent and grant routes.</a:t>
            </a:r>
          </a:p>
        </p:txBody>
      </p:sp>
      <p:sp>
        <p:nvSpPr>
          <p:cNvPr id="15438" name="How it addresses the problem">
            <a:extLst xmlns:a="http://schemas.openxmlformats.org/drawingml/2006/main">
              <a:ext uri="{FF2B5EF4-FFF2-40B4-BE49-F238E27FC236}">
                <a16:creationId xmlns:a16="http://schemas.microsoft.com/office/drawing/2014/main" id="{71C03F64-F9CB-40B2-8875-201C9EB74550}"/>
              </a:ext>
            </a:extLst>
          </p:cNvPr>
          <p:cNvSpPr>
            <a:spLocks xmlns:a="http://schemas.openxmlformats.org/drawingml/2006/main" noGrp="1"/>
          </p:cNvSpPr>
          <p:nvPr/>
        </p:nvSpPr>
        <p:spPr>
          <a:xfrm xmlns:a="http://schemas.openxmlformats.org/drawingml/2006/main">
            <a:off x="6429375" y="4143375"/>
            <a:ext cx="51530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F497D"/>
                </a:solidFill>
                <a:latin typeface="Arial"/>
                <a:ea typeface="Arial"/>
                <a:cs typeface="Arial"/>
              </a:defRPr>
            </a:pPr>
            <a:r>
              <a:rPr sz="1800" b="1">
                <a:solidFill>
                  <a:srgbClr val="1F497D"/>
                </a:solidFill>
                <a:latin typeface="Arial"/>
                <a:ea typeface="Arial"/>
                <a:cs typeface="Arial"/>
              </a:rPr>
              <a:t>How it addresses the problem</a:t>
            </a:r>
          </a:p>
        </p:txBody>
      </p:sp>
      <p:sp>
        <p:nvSpPr>
          <p:cNvPr id="15439" name="Release cleared zones early.&#10;Replan or wait a">
            <a:extLst xmlns:a="http://schemas.openxmlformats.org/drawingml/2006/main">
              <a:ext uri="{FF2B5EF4-FFF2-40B4-BE49-F238E27FC236}">
                <a16:creationId xmlns:a16="http://schemas.microsoft.com/office/drawing/2014/main" id="{920B935E-B894-4526-8B9E-B85D362F00B8}"/>
              </a:ext>
            </a:extLst>
          </p:cNvPr>
          <p:cNvSpPr>
            <a:spLocks xmlns:a="http://schemas.openxmlformats.org/drawingml/2006/main" noGrp="1"/>
          </p:cNvSpPr>
          <p:nvPr/>
        </p:nvSpPr>
        <p:spPr>
          <a:xfrm xmlns:a="http://schemas.openxmlformats.org/drawingml/2006/main">
            <a:off x="6429375" y="4552950"/>
            <a:ext cx="51530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203544"/>
                </a:solidFill>
                <a:latin typeface="Arial"/>
                <a:ea typeface="Arial"/>
                <a:cs typeface="Arial"/>
              </a:defRPr>
            </a:pPr>
            <a:r>
              <a:rPr sz="2100" b="0">
                <a:solidFill>
                  <a:srgbClr val="203544"/>
                </a:solidFill>
                <a:latin typeface="Arial"/>
                <a:ea typeface="Arial"/>
                <a:cs typeface="Arial"/>
              </a:rPr>
              <a:t>Release cleared zones early.</a:t>
            </a:r>
          </a:p>
          <a:p xmlns:a="http://schemas.openxmlformats.org/drawingml/2006/main">
            <a:pPr algn="l">
              <a:buNone/>
              <a:defRPr sz="2100" b="0">
                <a:solidFill>
                  <a:srgbClr val="203544"/>
                </a:solidFill>
                <a:latin typeface="Arial"/>
                <a:ea typeface="Arial"/>
                <a:cs typeface="Arial"/>
              </a:defRPr>
            </a:pPr>
            <a:r>
              <a:rPr sz="2100" b="0">
                <a:solidFill>
                  <a:srgbClr val="203544"/>
                </a:solidFill>
                <a:latin typeface="Arial"/>
                <a:ea typeface="Arial"/>
                <a:cs typeface="Arial"/>
              </a:rPr>
              <a:t>Replan or wait at blocked aisles.</a:t>
            </a:r>
          </a:p>
        </p:txBody>
      </p:sp>
      <p:sp>
        <p:nvSpPr>
          <p:cNvPr id="15440" name="Innovation and uniqueness of the solution">
            <a:extLst xmlns:a="http://schemas.openxmlformats.org/drawingml/2006/main">
              <a:ext uri="{FF2B5EF4-FFF2-40B4-BE49-F238E27FC236}">
                <a16:creationId xmlns:a16="http://schemas.microsoft.com/office/drawing/2014/main" id="{1E796BCB-0992-40DC-9A99-7FA8245B7C82}"/>
              </a:ext>
            </a:extLst>
          </p:cNvPr>
          <p:cNvSpPr>
            <a:spLocks xmlns:a="http://schemas.openxmlformats.org/drawingml/2006/main" noGrp="1"/>
          </p:cNvSpPr>
          <p:nvPr/>
        </p:nvSpPr>
        <p:spPr>
          <a:xfrm xmlns:a="http://schemas.openxmlformats.org/drawingml/2006/main">
            <a:off x="6429375" y="5362575"/>
            <a:ext cx="5153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F497D"/>
                </a:solidFill>
                <a:latin typeface="Arial"/>
                <a:ea typeface="Arial"/>
                <a:cs typeface="Arial"/>
              </a:defRPr>
            </a:pPr>
            <a:r>
              <a:rPr sz="1800" b="1">
                <a:solidFill>
                  <a:srgbClr val="1F497D"/>
                </a:solidFill>
                <a:latin typeface="Arial"/>
                <a:ea typeface="Arial"/>
                <a:cs typeface="Arial"/>
              </a:rPr>
              <a:t>Innovation and uniqueness of the solution</a:t>
            </a:r>
          </a:p>
        </p:txBody>
      </p:sp>
      <p:sp>
        <p:nvSpPr>
          <p:cNvPr id="15441" name="Inspect decisions. Replay and review.">
            <a:extLst xmlns:a="http://schemas.openxmlformats.org/drawingml/2006/main">
              <a:ext uri="{FF2B5EF4-FFF2-40B4-BE49-F238E27FC236}">
                <a16:creationId xmlns:a16="http://schemas.microsoft.com/office/drawing/2014/main" id="{111A3AA6-DD52-40DF-9F13-56BCD1F2EACD}"/>
              </a:ext>
            </a:extLst>
          </p:cNvPr>
          <p:cNvSpPr>
            <a:spLocks xmlns:a="http://schemas.openxmlformats.org/drawingml/2006/main" noGrp="1"/>
          </p:cNvSpPr>
          <p:nvPr/>
        </p:nvSpPr>
        <p:spPr>
          <a:xfrm xmlns:a="http://schemas.openxmlformats.org/drawingml/2006/main">
            <a:off x="6429375" y="5924550"/>
            <a:ext cx="5153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203544"/>
                </a:solidFill>
                <a:latin typeface="Arial"/>
                <a:ea typeface="Arial"/>
                <a:cs typeface="Arial"/>
              </a:defRPr>
            </a:pPr>
            <a:r>
              <a:rPr sz="1875" b="0">
                <a:solidFill>
                  <a:srgbClr val="203544"/>
                </a:solidFill>
                <a:latin typeface="Arial"/>
                <a:ea typeface="Arial"/>
                <a:cs typeface="Arial"/>
              </a:rPr>
              <a:t>Inspect decisions. Replay and review.</a:t>
            </a:r>
          </a:p>
        </p:txBody>
      </p:sp>
      <p:pic>
        <p:nvPicPr>
          <p:cNvPr id="15460" name=""/>
          <p:cNvPicPr>
            <a:picLocks xmlns:a="http://schemas.openxmlformats.org/drawingml/2006/main" noChangeAspect="1"/>
          </p:cNvPicPr>
          <p:nvPr/>
        </p:nvPicPr>
        <p:blipFill>
          <a:blip xmlns:r="http://schemas.openxmlformats.org/officeDocument/2006/relationships" xmlns:a="http://schemas.openxmlformats.org/drawingml/2006/main" r:embed="R569b0391c5484675"/>
          <a:srcRect xmlns:a="http://schemas.openxmlformats.org/drawingml/2006/main" l="0" t="11657" r="0" b="11657"/>
          <a:stretch xmlns:a="http://schemas.openxmlformats.org/drawingml/2006/main">
            <a:fillRect l="0" t="0" r="0" b="0"/>
          </a:stretch>
        </p:blipFill>
        <p:spPr>
          <a:xfrm xmlns:a="http://schemas.openxmlformats.org/drawingml/2006/main">
            <a:off x="609600" y="2933700"/>
            <a:ext cx="5334000" cy="2809875"/>
          </a:xfrm>
          <a:prstGeom xmlns:a="http://schemas.openxmlformats.org/drawingml/2006/main" prst="rect">
            <a:avLst/>
          </a:prstGeom>
        </p:spPr>
      </p:pic>
    </p:spTree>
    <p:extLst>
      <p:ext uri="{BB962C8B-B14F-4D97-AF65-F5344CB8AC3E}">
        <p14:creationId xmlns:p14="http://schemas.microsoft.com/office/powerpoint/2010/main" val="134584755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BCB33428-48AB-419C-92BB-390C947EDF93}"/>
              </a:ext>
            </a:extLst>
          </p:cNvPr>
          <p:cNvSpPr>
            <a:spLocks xmlns:a="http://schemas.openxmlformats.org/drawingml/2006/main" noGrp="1"/>
          </p:cNvSpPr>
          <p:nvPr>
            <p:ph type="title" idx="0"/>
          </p:nvPr>
        </p:nvSpPr>
        <p:spPr>
          <a:xfrm xmlns:a="http://schemas.openxmlformats.org/drawingml/2006/main">
            <a:off x="1809750" y="209550"/>
            <a:ext cx="7829550" cy="9144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TECHNICAL APPROACH</a:t>
            </a:r>
          </a:p>
        </p:txBody>
      </p:sp>
      <p:sp>
        <p:nvSpPr>
          <p:cNvPr id="17410" name="TextBox 8">
            <a:extLst xmlns:a="http://schemas.openxmlformats.org/drawingml/2006/main">
              <a:ext uri="{FF2B5EF4-FFF2-40B4-BE49-F238E27FC236}">
                <a16:creationId xmlns:a16="http://schemas.microsoft.com/office/drawing/2014/main" id="{AADB5BB3-02A8-4986-A3B6-788F65EE7412}"/>
              </a:ext>
            </a:extLst>
          </p:cNvPr>
          <p:cNvSpPr>
            <a:spLocks xmlns:a="http://schemas.openxmlformats.org/drawingml/2006/main" noGrp="1"/>
          </p:cNvSpPr>
          <p:nvPr/>
        </p:nvSpPr>
        <p:spPr>
          <a:xfrm xmlns:a="http://schemas.openxmlformats.org/drawingml/2006/main">
            <a:off x="609600" y="1571625"/>
            <a:ext cx="10972800" cy="35242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F497D"/>
                </a:solidFill>
                <a:latin typeface="Arial"/>
                <a:ea typeface="Arial"/>
                <a:cs typeface="Arial"/>
              </a:defRPr>
            </a:pPr>
            <a:r>
              <a:rPr sz="2025" b="1">
                <a:solidFill>
                  <a:srgbClr val="1F497D"/>
                </a:solidFill>
                <a:latin typeface="Arial"/>
                <a:ea typeface="Arial"/>
                <a:cs typeface="Arial"/>
              </a:rPr>
              <a:t>Methodology and process for implementation</a:t>
            </a:r>
          </a:p>
        </p:txBody>
      </p:sp>
      <p:sp>
        <p:nvSpPr>
          <p:cNvPr id="6" name="Slide Number Placeholder 5">
            <a:extLst xmlns:a="http://schemas.openxmlformats.org/drawingml/2006/main">
              <a:ext uri="{FF2B5EF4-FFF2-40B4-BE49-F238E27FC236}">
                <a16:creationId xmlns:a16="http://schemas.microsoft.com/office/drawing/2014/main" id="{78B26DBB-CEED-4758-AB1C-3194E7556485}"/>
              </a:ext>
            </a:extLst>
          </p:cNvPr>
          <p:cNvSpPr>
            <a:spLocks xmlns:a="http://schemas.openxmlformats.org/drawingml/2006/main" noGrp="1"/>
          </p:cNvSpPr>
          <p:nvPr>
            <p:ph type="sldNum" idx="12"/>
          </p:nvPr>
        </p:nvSpPr>
        <p:spPr>
          <a:xfrm xmlns:a="http://schemas.openxmlformats.org/drawingml/2006/main">
            <a:off x="11344275" y="6448425"/>
            <a:ext cx="381000" cy="247650"/>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FFFFFF"/>
                </a:solidFill>
                <a:latin typeface="Arial"/>
                <a:ea typeface="Arial"/>
                <a:cs typeface="Arial"/>
              </a:defRPr>
            </a:pPr>
            <a:fld id="{202359C0-8A7A-196E-DD58-8E6569619F09}" type="slidenum">
              <a:rPr sz="1200" b="1">
                <a:solidFill>
                  <a:srgbClr val="FFFFFF"/>
                </a:solidFill>
                <a:latin typeface="Arial"/>
                <a:ea typeface="Arial"/>
                <a:cs typeface="Aria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F9AF5F17-6586-4393-BB3C-99C7C6684339}"/>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[Team</a:t>
            </a:r>
            <a:endParaRPr/>
          </a:p>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name]</a:t>
            </a:r>
            <a:endParaRPr/>
          </a:p>
        </p:txBody>
      </p:sp>
      <p:pic>
        <p:nvPicPr>
          <p:cNvPr id="17459" name="Picture 11"/>
          <p:cNvPicPr>
            <a:picLocks xmlns:a="http://schemas.openxmlformats.org/drawingml/2006/main" noChangeAspect="1"/>
          </p:cNvPicPr>
          <p:nvPr/>
        </p:nvPicPr>
        <p:blipFill>
          <a:blip xmlns:r="http://schemas.openxmlformats.org/officeDocument/2006/relationships" xmlns:a="http://schemas.openxmlformats.org/drawingml/2006/main" r:embed="Rf3757cd2d8734b96"/>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7" name="Each robot plans locally. Peers agree on acce">
            <a:extLst xmlns:a="http://schemas.openxmlformats.org/drawingml/2006/main">
              <a:ext uri="{FF2B5EF4-FFF2-40B4-BE49-F238E27FC236}">
                <a16:creationId xmlns:a16="http://schemas.microsoft.com/office/drawing/2014/main" id="{545009F1-F113-4AF5-B173-B56AA7CF168E}"/>
              </a:ext>
            </a:extLst>
          </p:cNvPr>
          <p:cNvSpPr>
            <a:spLocks xmlns:a="http://schemas.openxmlformats.org/drawingml/2006/main" noGrp="1"/>
          </p:cNvSpPr>
          <p:nvPr/>
        </p:nvSpPr>
        <p:spPr>
          <a:xfrm xmlns:a="http://schemas.openxmlformats.org/drawingml/2006/main">
            <a:off x="609600" y="20193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1">
                <a:solidFill>
                  <a:srgbClr val="102D43"/>
                </a:solidFill>
                <a:latin typeface="Arial"/>
                <a:ea typeface="Arial"/>
                <a:cs typeface="Arial"/>
              </a:defRPr>
            </a:pPr>
            <a:r>
              <a:rPr sz="2475" b="1">
                <a:solidFill>
                  <a:srgbClr val="102D43"/>
                </a:solidFill>
                <a:latin typeface="Arial"/>
                <a:ea typeface="Arial"/>
                <a:cs typeface="Arial"/>
              </a:rPr>
              <a:t>Each robot plans locally. Peers agree on access.</a:t>
            </a:r>
          </a:p>
        </p:txBody>
      </p:sp>
      <p:sp>
        <p:nvSpPr>
          <p:cNvPr id="17418" name="Robot 1&#10;Planner + gate">
            <a:extLst xmlns:a="http://schemas.openxmlformats.org/drawingml/2006/main">
              <a:ext uri="{FF2B5EF4-FFF2-40B4-BE49-F238E27FC236}">
                <a16:creationId xmlns:a16="http://schemas.microsoft.com/office/drawing/2014/main" id="{A1D40C05-13D9-4322-97C3-3AAF36A961C2}"/>
              </a:ext>
            </a:extLst>
          </p:cNvPr>
          <p:cNvSpPr>
            <a:spLocks xmlns:a="http://schemas.openxmlformats.org/drawingml/2006/main" noGrp="1"/>
          </p:cNvSpPr>
          <p:nvPr/>
        </p:nvSpPr>
        <p:spPr>
          <a:xfrm xmlns:a="http://schemas.openxmlformats.org/drawingml/2006/main">
            <a:off x="723900" y="2857500"/>
            <a:ext cx="1847850" cy="828675"/>
          </a:xfrm>
          <a:prstGeom xmlns:a="http://schemas.openxmlformats.org/drawingml/2006/main" prst="rect">
            <a:avLst/>
          </a:prstGeom>
          <a:solidFill xmlns:a="http://schemas.openxmlformats.org/drawingml/2006/main">
            <a:srgbClr val="EDF3F7"/>
          </a:solidFill>
          <a:ln xmlns:a="http://schemas.openxmlformats.org/drawingml/2006/main" w="19050">
            <a:solidFill>
              <a:srgbClr val="1F497D"/>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pPr algn="ctr">
              <a:buNone/>
              <a:defRPr sz="1950" b="1">
                <a:solidFill>
                  <a:srgbClr val="1F497D"/>
                </a:solidFill>
                <a:latin typeface="Arial"/>
                <a:ea typeface="Arial"/>
                <a:cs typeface="Arial"/>
              </a:defRPr>
            </a:pPr>
            <a:r>
              <a:rPr sz="1950" b="1">
                <a:solidFill>
                  <a:srgbClr val="1F497D"/>
                </a:solidFill>
                <a:latin typeface="Arial"/>
                <a:ea typeface="Arial"/>
                <a:cs typeface="Arial"/>
              </a:rPr>
              <a:t>Robot 1</a:t>
            </a:r>
          </a:p>
          <a:p xmlns:a="http://schemas.openxmlformats.org/drawingml/2006/main">
            <a:pPr algn="ctr">
              <a:buNone/>
              <a:defRPr sz="1950" b="1">
                <a:solidFill>
                  <a:srgbClr val="1F497D"/>
                </a:solidFill>
                <a:latin typeface="Arial"/>
                <a:ea typeface="Arial"/>
                <a:cs typeface="Arial"/>
              </a:defRPr>
            </a:pPr>
            <a:r>
              <a:rPr sz="1950" b="1">
                <a:solidFill>
                  <a:srgbClr val="1F497D"/>
                </a:solidFill>
                <a:latin typeface="Arial"/>
                <a:ea typeface="Arial"/>
                <a:cs typeface="Arial"/>
              </a:rPr>
              <a:t>Planner + gate</a:t>
            </a:r>
          </a:p>
        </p:txBody>
      </p:sp>
      <p:sp>
        <p:nvSpPr>
          <p:cNvPr id="17419" name="Robot 2&#10;Planner + gate">
            <a:extLst xmlns:a="http://schemas.openxmlformats.org/drawingml/2006/main">
              <a:ext uri="{FF2B5EF4-FFF2-40B4-BE49-F238E27FC236}">
                <a16:creationId xmlns:a16="http://schemas.microsoft.com/office/drawing/2014/main" id="{1DF7721F-D3DB-4761-B16E-6DBF8D6AB5C2}"/>
              </a:ext>
            </a:extLst>
          </p:cNvPr>
          <p:cNvSpPr>
            <a:spLocks xmlns:a="http://schemas.openxmlformats.org/drawingml/2006/main" noGrp="1"/>
          </p:cNvSpPr>
          <p:nvPr/>
        </p:nvSpPr>
        <p:spPr>
          <a:xfrm xmlns:a="http://schemas.openxmlformats.org/drawingml/2006/main">
            <a:off x="4095750" y="2857500"/>
            <a:ext cx="1847850" cy="828675"/>
          </a:xfrm>
          <a:prstGeom xmlns:a="http://schemas.openxmlformats.org/drawingml/2006/main" prst="rect">
            <a:avLst/>
          </a:prstGeom>
          <a:solidFill xmlns:a="http://schemas.openxmlformats.org/drawingml/2006/main">
            <a:srgbClr val="EDF3F7"/>
          </a:solidFill>
          <a:ln xmlns:a="http://schemas.openxmlformats.org/drawingml/2006/main" w="19050">
            <a:solidFill>
              <a:srgbClr val="1F497D"/>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pPr algn="ctr">
              <a:buNone/>
              <a:defRPr sz="1950" b="1">
                <a:solidFill>
                  <a:srgbClr val="1F497D"/>
                </a:solidFill>
                <a:latin typeface="Arial"/>
                <a:ea typeface="Arial"/>
                <a:cs typeface="Arial"/>
              </a:defRPr>
            </a:pPr>
            <a:r>
              <a:rPr sz="1950" b="1">
                <a:solidFill>
                  <a:srgbClr val="1F497D"/>
                </a:solidFill>
                <a:latin typeface="Arial"/>
                <a:ea typeface="Arial"/>
                <a:cs typeface="Arial"/>
              </a:rPr>
              <a:t>Robot 2</a:t>
            </a:r>
          </a:p>
          <a:p xmlns:a="http://schemas.openxmlformats.org/drawingml/2006/main">
            <a:pPr algn="ctr">
              <a:buNone/>
              <a:defRPr sz="1950" b="1">
                <a:solidFill>
                  <a:srgbClr val="1F497D"/>
                </a:solidFill>
                <a:latin typeface="Arial"/>
                <a:ea typeface="Arial"/>
                <a:cs typeface="Arial"/>
              </a:defRPr>
            </a:pPr>
            <a:r>
              <a:rPr sz="1950" b="1">
                <a:solidFill>
                  <a:srgbClr val="1F497D"/>
                </a:solidFill>
                <a:latin typeface="Arial"/>
                <a:ea typeface="Arial"/>
                <a:cs typeface="Arial"/>
              </a:rPr>
              <a:t>Planner + gate</a:t>
            </a:r>
          </a:p>
        </p:txBody>
      </p:sp>
      <p:sp>
        <p:nvSpPr>
          <p:cNvPr id="17420" name="Robot 3&#10;Planner + gate">
            <a:extLst xmlns:a="http://schemas.openxmlformats.org/drawingml/2006/main">
              <a:ext uri="{FF2B5EF4-FFF2-40B4-BE49-F238E27FC236}">
                <a16:creationId xmlns:a16="http://schemas.microsoft.com/office/drawing/2014/main" id="{CBEC9979-C8BF-44A5-BDEB-483421B446DF}"/>
              </a:ext>
            </a:extLst>
          </p:cNvPr>
          <p:cNvSpPr>
            <a:spLocks xmlns:a="http://schemas.openxmlformats.org/drawingml/2006/main" noGrp="1"/>
          </p:cNvSpPr>
          <p:nvPr/>
        </p:nvSpPr>
        <p:spPr>
          <a:xfrm xmlns:a="http://schemas.openxmlformats.org/drawingml/2006/main">
            <a:off x="2409825" y="4552950"/>
            <a:ext cx="1847850" cy="828675"/>
          </a:xfrm>
          <a:prstGeom xmlns:a="http://schemas.openxmlformats.org/drawingml/2006/main" prst="rect">
            <a:avLst/>
          </a:prstGeom>
          <a:solidFill xmlns:a="http://schemas.openxmlformats.org/drawingml/2006/main">
            <a:srgbClr val="EDF3F7"/>
          </a:solidFill>
          <a:ln xmlns:a="http://schemas.openxmlformats.org/drawingml/2006/main" w="19050">
            <a:solidFill>
              <a:srgbClr val="1F497D"/>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pPr algn="ctr">
              <a:buNone/>
              <a:defRPr sz="1950" b="1">
                <a:solidFill>
                  <a:srgbClr val="1F497D"/>
                </a:solidFill>
                <a:latin typeface="Arial"/>
                <a:ea typeface="Arial"/>
                <a:cs typeface="Arial"/>
              </a:defRPr>
            </a:pPr>
            <a:r>
              <a:rPr sz="1950" b="1">
                <a:solidFill>
                  <a:srgbClr val="1F497D"/>
                </a:solidFill>
                <a:latin typeface="Arial"/>
                <a:ea typeface="Arial"/>
                <a:cs typeface="Arial"/>
              </a:rPr>
              <a:t>Robot 3</a:t>
            </a:r>
          </a:p>
          <a:p xmlns:a="http://schemas.openxmlformats.org/drawingml/2006/main">
            <a:pPr algn="ctr">
              <a:buNone/>
              <a:defRPr sz="1950" b="1">
                <a:solidFill>
                  <a:srgbClr val="1F497D"/>
                </a:solidFill>
                <a:latin typeface="Arial"/>
                <a:ea typeface="Arial"/>
                <a:cs typeface="Arial"/>
              </a:defRPr>
            </a:pPr>
            <a:r>
              <a:rPr sz="1950" b="1">
                <a:solidFill>
                  <a:srgbClr val="1F497D"/>
                </a:solidFill>
                <a:latin typeface="Arial"/>
                <a:ea typeface="Arial"/>
                <a:cs typeface="Arial"/>
              </a:rPr>
              <a:t>Planner + gate</a:t>
            </a:r>
          </a:p>
        </p:txBody>
      </p:sp>
      <p:cxnSp>
        <p:nvCxnSpPr>
          <p:cNvPr id="17464" name=""/>
          <p:cNvCxnSpPr>
            <a:stCxn xmlns:a="http://schemas.openxmlformats.org/drawingml/2006/main" id="17418" idx="3"/>
            <a:endCxn xmlns:a="http://schemas.openxmlformats.org/drawingml/2006/main" id="17419" idx="1"/>
          </p:cNvCxnSpPr>
          <p:nvPr/>
        </p:nvCxnSpPr>
        <p:spPr>
          <a:xfrm xmlns:a="http://schemas.openxmlformats.org/drawingml/2006/main">
            <a:off x="2571750" y="3271838"/>
            <a:ext cx="1524000" cy="0"/>
          </a:xfrm>
          <a:prstGeom xmlns:a="http://schemas.openxmlformats.org/drawingml/2006/main" prst="straightConnector1">
            <a:avLst/>
          </a:prstGeom>
          <a:ln xmlns:a="http://schemas.openxmlformats.org/drawingml/2006/main" w="19050">
            <a:solidFill>
              <a:srgbClr val="1F497D"/>
            </a:solidFill>
            <a:headEnd type="triangle" w="sm" len="sm"/>
            <a:tailEnd type="triangle" w="sm" len="sm"/>
          </a:ln>
        </p:spPr>
      </p:cxnSp>
      <p:cxnSp>
        <p:nvCxnSpPr>
          <p:cNvPr id="17465" name=""/>
          <p:cNvCxnSpPr>
            <a:stCxn xmlns:a="http://schemas.openxmlformats.org/drawingml/2006/main" id="17418" idx="2"/>
            <a:endCxn xmlns:a="http://schemas.openxmlformats.org/drawingml/2006/main" id="17420" idx="1"/>
          </p:cNvCxnSpPr>
          <p:nvPr/>
        </p:nvCxnSpPr>
        <p:spPr>
          <a:xfrm xmlns:a="http://schemas.openxmlformats.org/drawingml/2006/main">
            <a:off x="1647825" y="3686175"/>
            <a:ext cx="762000" cy="1281113"/>
          </a:xfrm>
          <a:prstGeom xmlns:a="http://schemas.openxmlformats.org/drawingml/2006/main" prst="straightConnector1">
            <a:avLst/>
          </a:prstGeom>
          <a:ln xmlns:a="http://schemas.openxmlformats.org/drawingml/2006/main" w="19050">
            <a:solidFill>
              <a:srgbClr val="1F497D"/>
            </a:solidFill>
            <a:headEnd type="triangle" w="sm" len="sm"/>
            <a:tailEnd type="triangle" w="sm" len="sm"/>
          </a:ln>
        </p:spPr>
      </p:cxnSp>
      <p:cxnSp>
        <p:nvCxnSpPr>
          <p:cNvPr id="17466" name=""/>
          <p:cNvCxnSpPr>
            <a:stCxn xmlns:a="http://schemas.openxmlformats.org/drawingml/2006/main" id="17419" idx="2"/>
            <a:endCxn xmlns:a="http://schemas.openxmlformats.org/drawingml/2006/main" id="17420" idx="3"/>
          </p:cNvCxnSpPr>
          <p:nvPr/>
        </p:nvCxnSpPr>
        <p:spPr>
          <a:xfrm xmlns:a="http://schemas.openxmlformats.org/drawingml/2006/main" flipH="1">
            <a:off x="4257675" y="3686175"/>
            <a:ext cx="762000" cy="1281113"/>
          </a:xfrm>
          <a:prstGeom xmlns:a="http://schemas.openxmlformats.org/drawingml/2006/main" prst="straightConnector1">
            <a:avLst/>
          </a:prstGeom>
          <a:ln xmlns:a="http://schemas.openxmlformats.org/drawingml/2006/main" w="19050">
            <a:solidFill>
              <a:srgbClr val="1F497D"/>
            </a:solidFill>
            <a:headEnd type="triangle" w="sm" len="sm"/>
            <a:tailEnd type="triangle" w="sm" len="sm"/>
          </a:ln>
        </p:spPr>
      </p:cxnSp>
      <p:sp>
        <p:nvSpPr>
          <p:cNvPr id="17424" name="Direct peer&#10;messages">
            <a:extLst xmlns:a="http://schemas.openxmlformats.org/drawingml/2006/main">
              <a:ext uri="{FF2B5EF4-FFF2-40B4-BE49-F238E27FC236}">
                <a16:creationId xmlns:a16="http://schemas.microsoft.com/office/drawing/2014/main" id="{ECF850BD-D067-4A19-91F3-5A477233C297}"/>
              </a:ext>
            </a:extLst>
          </p:cNvPr>
          <p:cNvSpPr>
            <a:spLocks xmlns:a="http://schemas.openxmlformats.org/drawingml/2006/main" noGrp="1"/>
          </p:cNvSpPr>
          <p:nvPr/>
        </p:nvSpPr>
        <p:spPr>
          <a:xfrm xmlns:a="http://schemas.openxmlformats.org/drawingml/2006/main">
            <a:off x="2686050" y="2686050"/>
            <a:ext cx="1333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1">
                <a:solidFill>
                  <a:srgbClr val="1F497D"/>
                </a:solidFill>
                <a:latin typeface="Arial"/>
                <a:ea typeface="Arial"/>
                <a:cs typeface="Arial"/>
              </a:defRPr>
            </a:pPr>
            <a:r>
              <a:rPr sz="1425" b="1">
                <a:solidFill>
                  <a:srgbClr val="1F497D"/>
                </a:solidFill>
                <a:latin typeface="Arial"/>
                <a:ea typeface="Arial"/>
                <a:cs typeface="Arial"/>
              </a:rPr>
              <a:t>Direct peer</a:t>
            </a:r>
          </a:p>
          <a:p xmlns:a="http://schemas.openxmlformats.org/drawingml/2006/main">
            <a:pPr algn="l">
              <a:buNone/>
              <a:defRPr sz="1425" b="1">
                <a:solidFill>
                  <a:srgbClr val="1F497D"/>
                </a:solidFill>
                <a:latin typeface="Arial"/>
                <a:ea typeface="Arial"/>
                <a:cs typeface="Arial"/>
              </a:defRPr>
            </a:pPr>
            <a:r>
              <a:rPr sz="1425" b="1">
                <a:solidFill>
                  <a:srgbClr val="1F497D"/>
                </a:solidFill>
                <a:latin typeface="Arial"/>
                <a:ea typeface="Arial"/>
                <a:cs typeface="Arial"/>
              </a:rPr>
              <a:t>messages</a:t>
            </a:r>
          </a:p>
        </p:txBody>
      </p:sp>
      <p:sp>
        <p:nvSpPr>
          <p:cNvPr id="17425" name="Position, intent, grants">
            <a:extLst xmlns:a="http://schemas.openxmlformats.org/drawingml/2006/main">
              <a:ext uri="{FF2B5EF4-FFF2-40B4-BE49-F238E27FC236}">
                <a16:creationId xmlns:a16="http://schemas.microsoft.com/office/drawing/2014/main" id="{8C5DAE73-B4AA-49D6-A685-C903D8803DD1}"/>
              </a:ext>
            </a:extLst>
          </p:cNvPr>
          <p:cNvSpPr>
            <a:spLocks xmlns:a="http://schemas.openxmlformats.org/drawingml/2006/main" noGrp="1"/>
          </p:cNvSpPr>
          <p:nvPr/>
        </p:nvSpPr>
        <p:spPr>
          <a:xfrm xmlns:a="http://schemas.openxmlformats.org/drawingml/2006/main">
            <a:off x="1962150" y="3933825"/>
            <a:ext cx="2790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1F497D"/>
                </a:solidFill>
                <a:latin typeface="Arial"/>
                <a:ea typeface="Arial"/>
                <a:cs typeface="Arial"/>
              </a:defRPr>
            </a:pPr>
            <a:r>
              <a:rPr sz="1650" b="1">
                <a:solidFill>
                  <a:srgbClr val="1F497D"/>
                </a:solidFill>
                <a:latin typeface="Arial"/>
                <a:ea typeface="Arial"/>
                <a:cs typeface="Arial"/>
              </a:rPr>
              <a:t>Position, intent, grants</a:t>
            </a:r>
          </a:p>
        </p:txBody>
      </p:sp>
      <p:sp>
        <p:nvSpPr>
          <p:cNvPr id="17426" name="One laptop hosts the independent processes.">
            <a:extLst xmlns:a="http://schemas.openxmlformats.org/drawingml/2006/main">
              <a:ext uri="{FF2B5EF4-FFF2-40B4-BE49-F238E27FC236}">
                <a16:creationId xmlns:a16="http://schemas.microsoft.com/office/drawing/2014/main" id="{E5D7E122-9D1C-4681-9D6A-421B7FEB548A}"/>
              </a:ext>
            </a:extLst>
          </p:cNvPr>
          <p:cNvSpPr>
            <a:spLocks xmlns:a="http://schemas.openxmlformats.org/drawingml/2006/main" noGrp="1"/>
          </p:cNvSpPr>
          <p:nvPr/>
        </p:nvSpPr>
        <p:spPr>
          <a:xfrm xmlns:a="http://schemas.openxmlformats.org/drawingml/2006/main">
            <a:off x="609600" y="5686425"/>
            <a:ext cx="5476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36778"/>
                </a:solidFill>
                <a:latin typeface="Arial"/>
                <a:ea typeface="Arial"/>
                <a:cs typeface="Arial"/>
              </a:defRPr>
            </a:pPr>
            <a:r>
              <a:rPr sz="1650" b="0">
                <a:solidFill>
                  <a:srgbClr val="536778"/>
                </a:solidFill>
                <a:latin typeface="Arial"/>
                <a:ea typeface="Arial"/>
                <a:cs typeface="Arial"/>
              </a:rPr>
              <a:t>Shared simulator: clock, pose and physics.
Three workers on one Render instance.</a:t>
            </a:r>
          </a:p>
        </p:txBody>
      </p:sp>
      <p:sp>
        <p:nvSpPr>
          <p:cNvPr id="17427" name="Technologies to be used">
            <a:extLst xmlns:a="http://schemas.openxmlformats.org/drawingml/2006/main">
              <a:ext uri="{FF2B5EF4-FFF2-40B4-BE49-F238E27FC236}">
                <a16:creationId xmlns:a16="http://schemas.microsoft.com/office/drawing/2014/main" id="{C4B1F9DB-549A-477F-B6F1-296E288F7BBC}"/>
              </a:ext>
            </a:extLst>
          </p:cNvPr>
          <p:cNvSpPr>
            <a:spLocks xmlns:a="http://schemas.openxmlformats.org/drawingml/2006/main" noGrp="1"/>
          </p:cNvSpPr>
          <p:nvPr/>
        </p:nvSpPr>
        <p:spPr>
          <a:xfrm xmlns:a="http://schemas.openxmlformats.org/drawingml/2006/main">
            <a:off x="6762750" y="2771775"/>
            <a:ext cx="4819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F497D"/>
                </a:solidFill>
                <a:latin typeface="Arial"/>
                <a:ea typeface="Arial"/>
                <a:cs typeface="Arial"/>
              </a:defRPr>
            </a:pPr>
            <a:r>
              <a:rPr sz="1875" b="1">
                <a:solidFill>
                  <a:srgbClr val="1F497D"/>
                </a:solidFill>
                <a:latin typeface="Arial"/>
                <a:ea typeface="Arial"/>
                <a:cs typeface="Arial"/>
              </a:rPr>
              <a:t>Technologies to be used</a:t>
            </a:r>
          </a:p>
        </p:txBody>
      </p:sp>
      <p:sp>
        <p:nvSpPr>
          <p:cNvPr id="17428" name="Python processes + authenticated UDP&#10;SQLite +">
            <a:extLst xmlns:a="http://schemas.openxmlformats.org/drawingml/2006/main">
              <a:ext uri="{FF2B5EF4-FFF2-40B4-BE49-F238E27FC236}">
                <a16:creationId xmlns:a16="http://schemas.microsoft.com/office/drawing/2014/main" id="{5AC68608-1A9D-4CD3-AB19-03134B46D4F5}"/>
              </a:ext>
            </a:extLst>
          </p:cNvPr>
          <p:cNvSpPr>
            <a:spLocks xmlns:a="http://schemas.openxmlformats.org/drawingml/2006/main" noGrp="1"/>
          </p:cNvSpPr>
          <p:nvPr/>
        </p:nvSpPr>
        <p:spPr>
          <a:xfrm xmlns:a="http://schemas.openxmlformats.org/drawingml/2006/main">
            <a:off x="6762750" y="3181350"/>
            <a:ext cx="48196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203544"/>
                </a:solidFill>
                <a:latin typeface="Arial"/>
                <a:ea typeface="Arial"/>
                <a:cs typeface="Arial"/>
              </a:defRPr>
            </a:pPr>
            <a:r>
              <a:rPr sz="1875" b="0">
                <a:solidFill>
                  <a:srgbClr val="203544"/>
                </a:solidFill>
                <a:latin typeface="Arial"/>
                <a:ea typeface="Arial"/>
                <a:cs typeface="Arial"/>
              </a:rPr>
              <a:t>Render: Python/UDP + Neon history</a:t>
            </a:r>
          </a:p>
          <a:p xmlns:a="http://schemas.openxmlformats.org/drawingml/2006/main">
            <a:pPr algn="l">
              <a:buNone/>
              <a:defRPr sz="1875" b="0">
                <a:solidFill>
                  <a:srgbClr val="203544"/>
                </a:solidFill>
                <a:latin typeface="Arial"/>
                <a:ea typeface="Arial"/>
                <a:cs typeface="Arial"/>
              </a:defRPr>
            </a:pPr>
            <a:r>
              <a:rPr sz="1875" b="0">
                <a:solidFill>
                  <a:srgbClr val="203544"/>
                </a:solidFill>
                <a:latin typeface="Arial"/>
                <a:ea typeface="Arial"/>
                <a:cs typeface="Arial"/>
              </a:rPr>
              <a:t>Vercel: frontend access pending</a:t>
            </a:r>
          </a:p>
        </p:txBody>
      </p:sp>
      <p:sp>
        <p:nvSpPr>
          <p:cNvPr id="17429" name="01">
            <a:extLst xmlns:a="http://schemas.openxmlformats.org/drawingml/2006/main">
              <a:ext uri="{FF2B5EF4-FFF2-40B4-BE49-F238E27FC236}">
                <a16:creationId xmlns:a16="http://schemas.microsoft.com/office/drawing/2014/main" id="{E6D2F2A9-24FD-4D2B-BFB5-0E3188A3DF88}"/>
              </a:ext>
            </a:extLst>
          </p:cNvPr>
          <p:cNvSpPr>
            <a:spLocks xmlns:a="http://schemas.openxmlformats.org/drawingml/2006/main" noGrp="1"/>
          </p:cNvSpPr>
          <p:nvPr/>
        </p:nvSpPr>
        <p:spPr>
          <a:xfrm xmlns:a="http://schemas.openxmlformats.org/drawingml/2006/main">
            <a:off x="6762750" y="4162425"/>
            <a:ext cx="447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754B"/>
                </a:solidFill>
                <a:latin typeface="Arial"/>
                <a:ea typeface="Arial"/>
                <a:cs typeface="Arial"/>
              </a:defRPr>
            </a:pPr>
            <a:r>
              <a:rPr sz="1800" b="1">
                <a:solidFill>
                  <a:srgbClr val="14754B"/>
                </a:solidFill>
                <a:latin typeface="Arial"/>
                <a:ea typeface="Arial"/>
                <a:cs typeface="Arial"/>
              </a:rPr>
              <a:t>01</a:t>
            </a:r>
          </a:p>
        </p:txBody>
      </p:sp>
      <p:sp>
        <p:nvSpPr>
          <p:cNvPr id="17430" name="Bid for jobs">
            <a:extLst xmlns:a="http://schemas.openxmlformats.org/drawingml/2006/main">
              <a:ext uri="{FF2B5EF4-FFF2-40B4-BE49-F238E27FC236}">
                <a16:creationId xmlns:a16="http://schemas.microsoft.com/office/drawing/2014/main" id="{1CFB7C13-35F7-4F0C-AAC2-32C9F945E999}"/>
              </a:ext>
            </a:extLst>
          </p:cNvPr>
          <p:cNvSpPr>
            <a:spLocks xmlns:a="http://schemas.openxmlformats.org/drawingml/2006/main" noGrp="1"/>
          </p:cNvSpPr>
          <p:nvPr/>
        </p:nvSpPr>
        <p:spPr>
          <a:xfrm xmlns:a="http://schemas.openxmlformats.org/drawingml/2006/main">
            <a:off x="7315200" y="4162425"/>
            <a:ext cx="426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02D43"/>
                </a:solidFill>
                <a:latin typeface="Arial"/>
                <a:ea typeface="Arial"/>
                <a:cs typeface="Arial"/>
              </a:defRPr>
            </a:pPr>
            <a:r>
              <a:rPr sz="1950" b="1">
                <a:solidFill>
                  <a:srgbClr val="102D43"/>
                </a:solidFill>
                <a:latin typeface="Arial"/>
                <a:ea typeface="Arial"/>
                <a:cs typeface="Arial"/>
              </a:rPr>
              <a:t>Bid for jobs</a:t>
            </a:r>
          </a:p>
        </p:txBody>
      </p:sp>
      <p:sp>
        <p:nvSpPr>
          <p:cNvPr id="17431" name="Agree on pickup ownership.">
            <a:extLst xmlns:a="http://schemas.openxmlformats.org/drawingml/2006/main">
              <a:ext uri="{FF2B5EF4-FFF2-40B4-BE49-F238E27FC236}">
                <a16:creationId xmlns:a16="http://schemas.microsoft.com/office/drawing/2014/main" id="{DA6BBEDF-F1EC-4C1B-95B2-E7F5C0E878BA}"/>
              </a:ext>
            </a:extLst>
          </p:cNvPr>
          <p:cNvSpPr>
            <a:spLocks xmlns:a="http://schemas.openxmlformats.org/drawingml/2006/main" noGrp="1"/>
          </p:cNvSpPr>
          <p:nvPr/>
        </p:nvSpPr>
        <p:spPr>
          <a:xfrm xmlns:a="http://schemas.openxmlformats.org/drawingml/2006/main">
            <a:off x="7315200" y="4486275"/>
            <a:ext cx="426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36778"/>
                </a:solidFill>
                <a:latin typeface="Arial"/>
                <a:ea typeface="Arial"/>
                <a:cs typeface="Arial"/>
              </a:defRPr>
            </a:pPr>
            <a:r>
              <a:rPr sz="1650" b="0">
                <a:solidFill>
                  <a:srgbClr val="536778"/>
                </a:solidFill>
                <a:latin typeface="Arial"/>
                <a:ea typeface="Arial"/>
                <a:cs typeface="Arial"/>
              </a:rPr>
              <a:t>Agree on pickup ownership.</a:t>
            </a:r>
          </a:p>
        </p:txBody>
      </p:sp>
      <p:sp>
        <p:nvSpPr>
          <p:cNvPr id="17432" name="02">
            <a:extLst xmlns:a="http://schemas.openxmlformats.org/drawingml/2006/main">
              <a:ext uri="{FF2B5EF4-FFF2-40B4-BE49-F238E27FC236}">
                <a16:creationId xmlns:a16="http://schemas.microsoft.com/office/drawing/2014/main" id="{5045B35B-08F3-401C-99B8-52AD3F20B4E9}"/>
              </a:ext>
            </a:extLst>
          </p:cNvPr>
          <p:cNvSpPr>
            <a:spLocks xmlns:a="http://schemas.openxmlformats.org/drawingml/2006/main" noGrp="1"/>
          </p:cNvSpPr>
          <p:nvPr/>
        </p:nvSpPr>
        <p:spPr>
          <a:xfrm xmlns:a="http://schemas.openxmlformats.org/drawingml/2006/main">
            <a:off x="6762750" y="4829175"/>
            <a:ext cx="447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754B"/>
                </a:solidFill>
                <a:latin typeface="Arial"/>
                <a:ea typeface="Arial"/>
                <a:cs typeface="Arial"/>
              </a:defRPr>
            </a:pPr>
            <a:r>
              <a:rPr sz="1800" b="1">
                <a:solidFill>
                  <a:srgbClr val="14754B"/>
                </a:solidFill>
                <a:latin typeface="Arial"/>
                <a:ea typeface="Arial"/>
                <a:cs typeface="Arial"/>
              </a:rPr>
              <a:t>02</a:t>
            </a:r>
          </a:p>
        </p:txBody>
      </p:sp>
      <p:sp>
        <p:nvSpPr>
          <p:cNvPr id="17433" name="Plan the route">
            <a:extLst xmlns:a="http://schemas.openxmlformats.org/drawingml/2006/main">
              <a:ext uri="{FF2B5EF4-FFF2-40B4-BE49-F238E27FC236}">
                <a16:creationId xmlns:a16="http://schemas.microsoft.com/office/drawing/2014/main" id="{D9B2EC6E-8326-4DD3-A9DE-D3D4E1EE4C6E}"/>
              </a:ext>
            </a:extLst>
          </p:cNvPr>
          <p:cNvSpPr>
            <a:spLocks xmlns:a="http://schemas.openxmlformats.org/drawingml/2006/main" noGrp="1"/>
          </p:cNvSpPr>
          <p:nvPr/>
        </p:nvSpPr>
        <p:spPr>
          <a:xfrm xmlns:a="http://schemas.openxmlformats.org/drawingml/2006/main">
            <a:off x="7315200" y="4829175"/>
            <a:ext cx="426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02D43"/>
                </a:solidFill>
                <a:latin typeface="Arial"/>
                <a:ea typeface="Arial"/>
                <a:cs typeface="Arial"/>
              </a:defRPr>
            </a:pPr>
            <a:r>
              <a:rPr sz="1950" b="1">
                <a:solidFill>
                  <a:srgbClr val="102D43"/>
                </a:solidFill>
                <a:latin typeface="Arial"/>
                <a:ea typeface="Arial"/>
                <a:cs typeface="Arial"/>
              </a:rPr>
              <a:t>Plan the route</a:t>
            </a:r>
          </a:p>
        </p:txBody>
      </p:sp>
      <p:sp>
        <p:nvSpPr>
          <p:cNvPr id="17434" name="Local regression or fixed route costs.">
            <a:extLst xmlns:a="http://schemas.openxmlformats.org/drawingml/2006/main">
              <a:ext uri="{FF2B5EF4-FFF2-40B4-BE49-F238E27FC236}">
                <a16:creationId xmlns:a16="http://schemas.microsoft.com/office/drawing/2014/main" id="{5FFB147C-2A94-49F7-878B-186CA0F3E688}"/>
              </a:ext>
            </a:extLst>
          </p:cNvPr>
          <p:cNvSpPr>
            <a:spLocks xmlns:a="http://schemas.openxmlformats.org/drawingml/2006/main" noGrp="1"/>
          </p:cNvSpPr>
          <p:nvPr/>
        </p:nvSpPr>
        <p:spPr>
          <a:xfrm xmlns:a="http://schemas.openxmlformats.org/drawingml/2006/main">
            <a:off x="7315200" y="5153025"/>
            <a:ext cx="426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36778"/>
                </a:solidFill>
                <a:latin typeface="Arial"/>
                <a:ea typeface="Arial"/>
                <a:cs typeface="Arial"/>
              </a:defRPr>
            </a:pPr>
            <a:r>
              <a:rPr sz="1650" b="0">
                <a:solidFill>
                  <a:srgbClr val="536778"/>
                </a:solidFill>
                <a:latin typeface="Arial"/>
                <a:ea typeface="Arial"/>
                <a:cs typeface="Arial"/>
              </a:rPr>
              <a:t>Local regression or fixed route costs.</a:t>
            </a:r>
          </a:p>
        </p:txBody>
      </p:sp>
      <p:sp>
        <p:nvSpPr>
          <p:cNvPr id="17435" name="03">
            <a:extLst xmlns:a="http://schemas.openxmlformats.org/drawingml/2006/main">
              <a:ext uri="{FF2B5EF4-FFF2-40B4-BE49-F238E27FC236}">
                <a16:creationId xmlns:a16="http://schemas.microsoft.com/office/drawing/2014/main" id="{32D35613-0C7C-438C-AA2B-55E2E633DBBF}"/>
              </a:ext>
            </a:extLst>
          </p:cNvPr>
          <p:cNvSpPr>
            <a:spLocks xmlns:a="http://schemas.openxmlformats.org/drawingml/2006/main" noGrp="1"/>
          </p:cNvSpPr>
          <p:nvPr/>
        </p:nvSpPr>
        <p:spPr>
          <a:xfrm xmlns:a="http://schemas.openxmlformats.org/drawingml/2006/main">
            <a:off x="6762750" y="5495925"/>
            <a:ext cx="447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754B"/>
                </a:solidFill>
                <a:latin typeface="Arial"/>
                <a:ea typeface="Arial"/>
                <a:cs typeface="Arial"/>
              </a:defRPr>
            </a:pPr>
            <a:r>
              <a:rPr sz="1800" b="1">
                <a:solidFill>
                  <a:srgbClr val="14754B"/>
                </a:solidFill>
                <a:latin typeface="Arial"/>
                <a:ea typeface="Arial"/>
                <a:cs typeface="Arial"/>
              </a:rPr>
              <a:t>03</a:t>
            </a:r>
          </a:p>
        </p:txBody>
      </p:sp>
      <p:sp>
        <p:nvSpPr>
          <p:cNvPr id="17436" name="Reserve and move">
            <a:extLst xmlns:a="http://schemas.openxmlformats.org/drawingml/2006/main">
              <a:ext uri="{FF2B5EF4-FFF2-40B4-BE49-F238E27FC236}">
                <a16:creationId xmlns:a16="http://schemas.microsoft.com/office/drawing/2014/main" id="{626C69EB-310D-43BD-90B6-FDE0A874A785}"/>
              </a:ext>
            </a:extLst>
          </p:cNvPr>
          <p:cNvSpPr>
            <a:spLocks xmlns:a="http://schemas.openxmlformats.org/drawingml/2006/main" noGrp="1"/>
          </p:cNvSpPr>
          <p:nvPr/>
        </p:nvSpPr>
        <p:spPr>
          <a:xfrm xmlns:a="http://schemas.openxmlformats.org/drawingml/2006/main">
            <a:off x="7315200" y="5495925"/>
            <a:ext cx="426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02D43"/>
                </a:solidFill>
                <a:latin typeface="Arial"/>
                <a:ea typeface="Arial"/>
                <a:cs typeface="Arial"/>
              </a:defRPr>
            </a:pPr>
            <a:r>
              <a:rPr sz="1950" b="1">
                <a:solidFill>
                  <a:srgbClr val="102D43"/>
                </a:solidFill>
                <a:latin typeface="Arial"/>
                <a:ea typeface="Arial"/>
                <a:cs typeface="Arial"/>
              </a:rPr>
              <a:t>Reserve and move</a:t>
            </a:r>
          </a:p>
        </p:txBody>
      </p:sp>
      <p:sp>
        <p:nvSpPr>
          <p:cNvPr id="17437" name="Peer grants, then release clear zones.">
            <a:extLst xmlns:a="http://schemas.openxmlformats.org/drawingml/2006/main">
              <a:ext uri="{FF2B5EF4-FFF2-40B4-BE49-F238E27FC236}">
                <a16:creationId xmlns:a16="http://schemas.microsoft.com/office/drawing/2014/main" id="{DFCE590D-70C6-41F3-9370-E4405B751131}"/>
              </a:ext>
            </a:extLst>
          </p:cNvPr>
          <p:cNvSpPr>
            <a:spLocks xmlns:a="http://schemas.openxmlformats.org/drawingml/2006/main" noGrp="1"/>
          </p:cNvSpPr>
          <p:nvPr/>
        </p:nvSpPr>
        <p:spPr>
          <a:xfrm xmlns:a="http://schemas.openxmlformats.org/drawingml/2006/main">
            <a:off x="7315200" y="5819775"/>
            <a:ext cx="4267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36778"/>
                </a:solidFill>
                <a:latin typeface="Arial"/>
                <a:ea typeface="Arial"/>
                <a:cs typeface="Arial"/>
              </a:defRPr>
            </a:pPr>
            <a:r>
              <a:rPr sz="1650" b="0">
                <a:solidFill>
                  <a:srgbClr val="536778"/>
                </a:solidFill>
                <a:latin typeface="Arial"/>
                <a:ea typeface="Arial"/>
                <a:cs typeface="Arial"/>
              </a:rPr>
              <a:t>Peer grants, then release clear zones.</a:t>
            </a:r>
          </a:p>
        </p:txBody>
      </p:sp>
    </p:spTree>
    <p:extLst>
      <p:ext uri="{BB962C8B-B14F-4D97-AF65-F5344CB8AC3E}">
        <p14:creationId xmlns:p14="http://schemas.microsoft.com/office/powerpoint/2010/main" val="187126299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EE112DE7-B8CB-4CF2-9FBB-D75A97C87944}"/>
              </a:ext>
            </a:extLst>
          </p:cNvPr>
          <p:cNvSpPr>
            <a:spLocks xmlns:a="http://schemas.openxmlformats.org/drawingml/2006/main" noGrp="1"/>
          </p:cNvSpPr>
          <p:nvPr>
            <p:ph type="title" idx="0"/>
          </p:nvPr>
        </p:nvSpPr>
        <p:spPr>
          <a:xfrm xmlns:a="http://schemas.openxmlformats.org/drawingml/2006/main">
            <a:off x="1809750" y="209550"/>
            <a:ext cx="7829550" cy="9144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FEASIBILITY AND VIABILITY</a:t>
            </a:r>
          </a:p>
        </p:txBody>
      </p:sp>
      <p:sp>
        <p:nvSpPr>
          <p:cNvPr id="17410" name="TextBox 8">
            <a:extLst xmlns:a="http://schemas.openxmlformats.org/drawingml/2006/main">
              <a:ext uri="{FF2B5EF4-FFF2-40B4-BE49-F238E27FC236}">
                <a16:creationId xmlns:a16="http://schemas.microsoft.com/office/drawing/2014/main" id="{4CDC8DDD-459C-4CEE-994D-12657DD3E6FC}"/>
              </a:ext>
            </a:extLst>
          </p:cNvPr>
          <p:cNvSpPr>
            <a:spLocks xmlns:a="http://schemas.openxmlformats.org/drawingml/2006/main" noGrp="1"/>
          </p:cNvSpPr>
          <p:nvPr/>
        </p:nvSpPr>
        <p:spPr>
          <a:xfrm xmlns:a="http://schemas.openxmlformats.org/drawingml/2006/main">
            <a:off x="609600" y="1504950"/>
            <a:ext cx="10972800" cy="3429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F497D"/>
                </a:solidFill>
                <a:latin typeface="Arial"/>
                <a:ea typeface="Arial"/>
                <a:cs typeface="Arial"/>
              </a:defRPr>
            </a:pPr>
            <a:r>
              <a:rPr sz="1950" b="1">
                <a:solidFill>
                  <a:srgbClr val="1F497D"/>
                </a:solidFill>
                <a:latin typeface="Arial"/>
                <a:ea typeface="Arial"/>
                <a:cs typeface="Arial"/>
              </a:rPr>
              <a:t>Analysis of the feasibility of the idea</a:t>
            </a:r>
          </a:p>
        </p:txBody>
      </p:sp>
      <p:sp>
        <p:nvSpPr>
          <p:cNvPr id="6" name="Slide Number Placeholder 5">
            <a:extLst xmlns:a="http://schemas.openxmlformats.org/drawingml/2006/main">
              <a:ext uri="{FF2B5EF4-FFF2-40B4-BE49-F238E27FC236}">
                <a16:creationId xmlns:a16="http://schemas.microsoft.com/office/drawing/2014/main" id="{560A4985-3906-4238-B57E-1BFCF539A422}"/>
              </a:ext>
            </a:extLst>
          </p:cNvPr>
          <p:cNvSpPr>
            <a:spLocks xmlns:a="http://schemas.openxmlformats.org/drawingml/2006/main" noGrp="1"/>
          </p:cNvSpPr>
          <p:nvPr>
            <p:ph type="sldNum" idx="12"/>
          </p:nvPr>
        </p:nvSpPr>
        <p:spPr>
          <a:xfrm xmlns:a="http://schemas.openxmlformats.org/drawingml/2006/main">
            <a:off x="11344275" y="6448425"/>
            <a:ext cx="381000" cy="247650"/>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00" b="1">
                <a:solidFill>
                  <a:srgbClr val="FFFFFF"/>
                </a:solidFill>
                <a:latin typeface="Arial"/>
                <a:ea typeface="Arial"/>
                <a:cs typeface="Arial"/>
              </a:defRPr>
            </a:pPr>
            <a:fld id="{EFD6AB9A-5F9E-5F59-51AB-3C8734130965}" type="slidenum">
              <a:rPr sz="1200" b="1" i="0" u="none" cap="none" spc="0">
                <a:ln>
                  <a:noFill/>
                </a:ln>
                <a:solidFill>
                  <a:srgbClr val="FFFFFF"/>
                </a:solidFill>
                <a:latin typeface="Arial"/>
                <a:ea typeface="Arial"/>
                <a:cs typeface="Arial"/>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BB5C9CCC-7440-4994-A552-BBD71E0564E6}"/>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[Team</a:t>
            </a:r>
            <a:endParaRPr/>
          </a:p>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name]</a:t>
            </a:r>
            <a:endParaRPr/>
          </a:p>
        </p:txBody>
      </p:sp>
      <p:pic>
        <p:nvPicPr>
          <p:cNvPr id="17435" name="Picture 10"/>
          <p:cNvPicPr>
            <a:picLocks xmlns:a="http://schemas.openxmlformats.org/drawingml/2006/main" noChangeAspect="1"/>
          </p:cNvPicPr>
          <p:nvPr/>
        </p:nvPicPr>
        <p:blipFill>
          <a:blip xmlns:r="http://schemas.openxmlformats.org/officeDocument/2006/relationships" xmlns:a="http://schemas.openxmlformats.org/drawingml/2006/main" r:embed="R4b031dcde6624cf0"/>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9" name="3–6">
            <a:extLst xmlns:a="http://schemas.openxmlformats.org/drawingml/2006/main">
              <a:ext uri="{FF2B5EF4-FFF2-40B4-BE49-F238E27FC236}">
                <a16:creationId xmlns:a16="http://schemas.microsoft.com/office/drawing/2014/main" id="{6755E04A-3B57-4773-BC99-30C3144E863F}"/>
              </a:ext>
            </a:extLst>
          </p:cNvPr>
          <p:cNvSpPr>
            <a:spLocks xmlns:a="http://schemas.openxmlformats.org/drawingml/2006/main" noGrp="1"/>
          </p:cNvSpPr>
          <p:nvPr/>
        </p:nvSpPr>
        <p:spPr>
          <a:xfrm xmlns:a="http://schemas.openxmlformats.org/drawingml/2006/main">
            <a:off x="609600" y="1943100"/>
            <a:ext cx="3448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250" b="1">
                <a:solidFill>
                  <a:srgbClr val="14754B"/>
                </a:solidFill>
                <a:latin typeface="Arial"/>
                <a:ea typeface="Arial"/>
                <a:cs typeface="Arial"/>
              </a:defRPr>
            </a:pPr>
            <a:r>
              <a:rPr sz="5250" b="1">
                <a:solidFill>
                  <a:srgbClr val="14754B"/>
                </a:solidFill>
                <a:latin typeface="Arial"/>
                <a:ea typeface="Arial"/>
                <a:cs typeface="Arial"/>
              </a:rPr>
              <a:t>3–6</a:t>
            </a:r>
          </a:p>
        </p:txBody>
      </p:sp>
      <p:sp>
        <p:nvSpPr>
          <p:cNvPr id="17420" name="independent robot processes">
            <a:extLst xmlns:a="http://schemas.openxmlformats.org/drawingml/2006/main">
              <a:ext uri="{FF2B5EF4-FFF2-40B4-BE49-F238E27FC236}">
                <a16:creationId xmlns:a16="http://schemas.microsoft.com/office/drawing/2014/main" id="{E5BBBB90-8386-4D2B-8EA4-2A1A8CD0876A}"/>
              </a:ext>
            </a:extLst>
          </p:cNvPr>
          <p:cNvSpPr>
            <a:spLocks xmlns:a="http://schemas.openxmlformats.org/drawingml/2006/main" noGrp="1"/>
          </p:cNvSpPr>
          <p:nvPr/>
        </p:nvSpPr>
        <p:spPr>
          <a:xfrm xmlns:a="http://schemas.openxmlformats.org/drawingml/2006/main">
            <a:off x="609600" y="2819400"/>
            <a:ext cx="3514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102D43"/>
                </a:solidFill>
                <a:latin typeface="Arial"/>
                <a:ea typeface="Arial"/>
                <a:cs typeface="Arial"/>
              </a:defRPr>
            </a:pPr>
            <a:r>
              <a:rPr sz="1875" b="0">
                <a:solidFill>
                  <a:srgbClr val="102D43"/>
                </a:solidFill>
                <a:latin typeface="Arial"/>
                <a:ea typeface="Arial"/>
                <a:cs typeface="Arial"/>
              </a:rPr>
              <a:t>independent robot processes</a:t>
            </a:r>
          </a:p>
        </p:txBody>
      </p:sp>
      <p:sp>
        <p:nvSpPr>
          <p:cNvPr id="17421" name="160">
            <a:extLst xmlns:a="http://schemas.openxmlformats.org/drawingml/2006/main">
              <a:ext uri="{FF2B5EF4-FFF2-40B4-BE49-F238E27FC236}">
                <a16:creationId xmlns:a16="http://schemas.microsoft.com/office/drawing/2014/main" id="{25F9E070-BFD7-4120-837C-AF5F0BCE584E}"/>
              </a:ext>
            </a:extLst>
          </p:cNvPr>
          <p:cNvSpPr>
            <a:spLocks xmlns:a="http://schemas.openxmlformats.org/drawingml/2006/main" noGrp="1"/>
          </p:cNvSpPr>
          <p:nvPr/>
        </p:nvSpPr>
        <p:spPr>
          <a:xfrm xmlns:a="http://schemas.openxmlformats.org/drawingml/2006/main">
            <a:off x="4305300" y="1943100"/>
            <a:ext cx="3448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250" b="1">
                <a:solidFill>
                  <a:srgbClr val="14754B"/>
                </a:solidFill>
                <a:latin typeface="Arial"/>
                <a:ea typeface="Arial"/>
                <a:cs typeface="Arial"/>
              </a:defRPr>
            </a:pPr>
            <a:r>
              <a:rPr sz="5250" b="1">
                <a:solidFill>
                  <a:srgbClr val="14754B"/>
                </a:solidFill>
                <a:latin typeface="Arial"/>
                <a:ea typeface="Arial"/>
                <a:cs typeface="Arial"/>
              </a:rPr>
              <a:t>160</a:t>
            </a:r>
          </a:p>
        </p:txBody>
      </p:sp>
      <p:sp>
        <p:nvSpPr>
          <p:cNvPr id="17422" name="completed benchmark runs">
            <a:extLst xmlns:a="http://schemas.openxmlformats.org/drawingml/2006/main">
              <a:ext uri="{FF2B5EF4-FFF2-40B4-BE49-F238E27FC236}">
                <a16:creationId xmlns:a16="http://schemas.microsoft.com/office/drawing/2014/main" id="{9D558672-AFFC-4865-A601-9A45000DB981}"/>
              </a:ext>
            </a:extLst>
          </p:cNvPr>
          <p:cNvSpPr>
            <a:spLocks xmlns:a="http://schemas.openxmlformats.org/drawingml/2006/main" noGrp="1"/>
          </p:cNvSpPr>
          <p:nvPr/>
        </p:nvSpPr>
        <p:spPr>
          <a:xfrm xmlns:a="http://schemas.openxmlformats.org/drawingml/2006/main">
            <a:off x="4305300" y="2819400"/>
            <a:ext cx="3514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102D43"/>
                </a:solidFill>
                <a:latin typeface="Arial"/>
                <a:ea typeface="Arial"/>
                <a:cs typeface="Arial"/>
              </a:defRPr>
            </a:pPr>
            <a:r>
              <a:rPr sz="1875" b="0">
                <a:solidFill>
                  <a:srgbClr val="102D43"/>
                </a:solidFill>
                <a:latin typeface="Arial"/>
                <a:ea typeface="Arial"/>
                <a:cs typeface="Arial"/>
              </a:rPr>
              <a:t>historical benchmark runs</a:t>
            </a:r>
          </a:p>
        </p:txBody>
      </p:sp>
      <p:sp>
        <p:nvSpPr>
          <p:cNvPr id="17423" name="0">
            <a:extLst xmlns:a="http://schemas.openxmlformats.org/drawingml/2006/main">
              <a:ext uri="{FF2B5EF4-FFF2-40B4-BE49-F238E27FC236}">
                <a16:creationId xmlns:a16="http://schemas.microsoft.com/office/drawing/2014/main" id="{93D2A149-C46B-42C6-965A-D72F05769FE8}"/>
              </a:ext>
            </a:extLst>
          </p:cNvPr>
          <p:cNvSpPr>
            <a:spLocks xmlns:a="http://schemas.openxmlformats.org/drawingml/2006/main" noGrp="1"/>
          </p:cNvSpPr>
          <p:nvPr/>
        </p:nvSpPr>
        <p:spPr>
          <a:xfrm xmlns:a="http://schemas.openxmlformats.org/drawingml/2006/main">
            <a:off x="8001000" y="1943100"/>
            <a:ext cx="34480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250" b="1">
                <a:solidFill>
                  <a:srgbClr val="14754B"/>
                </a:solidFill>
                <a:latin typeface="Arial"/>
                <a:ea typeface="Arial"/>
                <a:cs typeface="Arial"/>
              </a:defRPr>
            </a:pPr>
            <a:r>
              <a:rPr sz="5250" b="1">
                <a:solidFill>
                  <a:srgbClr val="14754B"/>
                </a:solidFill>
                <a:latin typeface="Arial"/>
                <a:ea typeface="Arial"/>
                <a:cs typeface="Arial"/>
              </a:rPr>
              <a:t>0</a:t>
            </a:r>
          </a:p>
        </p:txBody>
      </p:sp>
      <p:sp>
        <p:nvSpPr>
          <p:cNvPr id="17424" name="detected collisions in those runs">
            <a:extLst xmlns:a="http://schemas.openxmlformats.org/drawingml/2006/main">
              <a:ext uri="{FF2B5EF4-FFF2-40B4-BE49-F238E27FC236}">
                <a16:creationId xmlns:a16="http://schemas.microsoft.com/office/drawing/2014/main" id="{0CBEEA1D-1EAA-4757-B29E-EFCF34B6E991}"/>
              </a:ext>
            </a:extLst>
          </p:cNvPr>
          <p:cNvSpPr>
            <a:spLocks xmlns:a="http://schemas.openxmlformats.org/drawingml/2006/main" noGrp="1"/>
          </p:cNvSpPr>
          <p:nvPr/>
        </p:nvSpPr>
        <p:spPr>
          <a:xfrm xmlns:a="http://schemas.openxmlformats.org/drawingml/2006/main">
            <a:off x="8001000" y="2819400"/>
            <a:ext cx="3514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102D43"/>
                </a:solidFill>
                <a:latin typeface="Arial"/>
                <a:ea typeface="Arial"/>
                <a:cs typeface="Arial"/>
              </a:defRPr>
            </a:pPr>
            <a:r>
              <a:rPr sz="1875" b="0">
                <a:solidFill>
                  <a:srgbClr val="102D43"/>
                </a:solidFill>
                <a:latin typeface="Arial"/>
                <a:ea typeface="Arial"/>
                <a:cs typeface="Arial"/>
              </a:rPr>
              <a:t>detected collisions in those runs</a:t>
            </a:r>
          </a:p>
        </p:txBody>
      </p:sp>
      <p:graphicFrame>
        <p:nvGraphicFramePr>
          <p:cNvPr id="17442" name=""/>
          <p:cNvGraphicFramePr/>
          <p:nvPr/>
        </p:nvGraphicFramePr>
        <p:xfrm>
          <a:off xmlns:a="http://schemas.openxmlformats.org/drawingml/2006/main" x="609600" y="3562350"/>
          <a:ext xmlns:a="http://schemas.openxmlformats.org/drawingml/2006/main" cx="10972800" cy="2238375"/>
        </p:xfrm>
        <a:graphic xmlns:a="http://schemas.openxmlformats.org/drawingml/2006/main">
          <a:graphicData uri="http://schemas.openxmlformats.org/drawingml/2006/table">
            <a:tbl>
              <a:tblPr/>
              <a:tblGrid>
                <a:gridCol w="4171950"/>
                <a:gridCol w="6800850"/>
              </a:tblGrid>
              <a:tr h="552450">
                <a:tc>
                  <a:txBody>
                    <a:bodyPr lIns="114300" tIns="76200" rIns="114300" bIns="76200">
                      <a:noAutofit/>
                    </a:bodyPr>
                    <a:lstStyle/>
                    <a:p>
                      <a:r>
                        <a:rPr sz="1725" b="1">
                          <a:solidFill>
                            <a:srgbClr val="1F497D"/>
                          </a:solidFill>
                          <a:latin typeface="Arial"/>
                          <a:ea typeface="Arial"/>
                          <a:cs typeface="Arial"/>
                        </a:rPr>
                        <a:t>Potential challenges and risks</a:t>
                      </a:r>
                    </a:p>
                  </a:txBody>
                  <a:tcPr marL="91440" marR="91440" marT="45720" marB="45720" anchor="ctr">
                    <a:solidFill>
                      <a:srgbClr val="EDF3F7"/>
                    </a:solidFill>
                  </a:tcPr>
                </a:tc>
                <a:tc>
                  <a:txBody>
                    <a:bodyPr lIns="114300" tIns="76200" rIns="114300" bIns="76200">
                      <a:noAutofit/>
                    </a:bodyPr>
                    <a:lstStyle/>
                    <a:p>
                      <a:r>
                        <a:rPr sz="1725" b="1">
                          <a:solidFill>
                            <a:srgbClr val="1F497D"/>
                          </a:solidFill>
                          <a:latin typeface="Arial"/>
                          <a:ea typeface="Arial"/>
                          <a:cs typeface="Arial"/>
                        </a:rPr>
                        <a:t>Strategies for overcoming these challenges</a:t>
                      </a:r>
                    </a:p>
                  </a:txBody>
                  <a:tcPr marL="91440" marR="91440" marT="45720" marB="45720" anchor="ctr">
                    <a:solidFill>
                      <a:srgbClr val="EDF3F7"/>
                    </a:solidFill>
                  </a:tcPr>
                </a:tc>
              </a:tr>
              <a:tr h="561975">
                <a:tc>
                  <a:txBody>
                    <a:bodyPr lIns="114300" tIns="76200" rIns="114300" bIns="76200">
                      <a:noAutofit/>
                    </a:bodyPr>
                    <a:lstStyle/>
                    <a:p>
                      <a:r>
                        <a:rPr sz="1800" b="0">
                          <a:solidFill>
                            <a:srgbClr val="203544"/>
                          </a:solidFill>
                          <a:latin typeface="Arial"/>
                          <a:ea typeface="Arial"/>
                          <a:cs typeface="Arial"/>
                        </a:rPr>
                        <a:t>Failed peer can halt progress</a:t>
                      </a:r>
                    </a:p>
                  </a:txBody>
                  <a:tcPr marL="91440" marR="91440" marT="45720" marB="45720" anchor="ctr">
                    <a:solidFill>
                      <a:srgbClr val="FFFFFF"/>
                    </a:solidFill>
                  </a:tcPr>
                </a:tc>
                <a:tc>
                  <a:txBody>
                    <a:bodyPr lIns="114300" tIns="76200" rIns="114300" bIns="76200">
                      <a:noAutofit/>
                    </a:bodyPr>
                    <a:lstStyle/>
                    <a:p>
                      <a:r>
                        <a:rPr sz="1800" b="0">
                          <a:solidFill>
                            <a:srgbClr val="203544"/>
                          </a:solidFill>
                          <a:latin typeface="Arial"/>
                          <a:ea typeface="Arial"/>
                          <a:cs typeface="Arial"/>
                        </a:rPr>
                        <a:t>Now: retain owned zones. Next: verified restart recovery.</a:t>
                      </a:r>
                    </a:p>
                  </a:txBody>
                  <a:tcPr marL="91440" marR="91440" marT="45720" marB="45720" anchor="ctr">
                    <a:solidFill>
                      <a:srgbClr val="FFFFFF"/>
                    </a:solidFill>
                  </a:tcPr>
                </a:tc>
              </a:tr>
              <a:tr h="561975">
                <a:tc>
                  <a:txBody>
                    <a:bodyPr lIns="114300" tIns="76200" rIns="114300" bIns="76200">
                      <a:noAutofit/>
                    </a:bodyPr>
                    <a:lstStyle/>
                    <a:p>
                      <a:r>
                        <a:rPr sz="1800" b="0">
                          <a:solidFill>
                            <a:srgbClr val="203544"/>
                          </a:solidFill>
                          <a:latin typeface="Arial"/>
                          <a:ea typeface="Arial"/>
                          <a:cs typeface="Arial"/>
                        </a:rPr>
                        <a:t>Idealized sensing and motion</a:t>
                      </a:r>
                    </a:p>
                  </a:txBody>
                  <a:tcPr marL="91440" marR="91440" marT="45720" marB="45720" anchor="ctr">
                    <a:solidFill>
                      <a:srgbClr val="FFFFFF"/>
                    </a:solidFill>
                  </a:tcPr>
                </a:tc>
                <a:tc>
                  <a:txBody>
                    <a:bodyPr lIns="114300" tIns="76200" rIns="114300" bIns="76200">
                      <a:noAutofit/>
                    </a:bodyPr>
                    <a:lstStyle/>
                    <a:p>
                      <a:r>
                        <a:rPr sz="1800" b="0">
                          <a:solidFill>
                            <a:srgbClr val="203544"/>
                          </a:solidFill>
                          <a:latin typeface="Arial"/>
                          <a:ea typeface="Arial"/>
                          <a:cs typeface="Arial"/>
                        </a:rPr>
                        <a:t>Next: edge-board tests, braking trials and noisy sensing.</a:t>
                      </a:r>
                    </a:p>
                  </a:txBody>
                  <a:tcPr marL="91440" marR="91440" marT="45720" marB="45720" anchor="ctr">
                    <a:solidFill>
                      <a:srgbClr val="FFFFFF"/>
                    </a:solidFill>
                  </a:tcPr>
                </a:tc>
              </a:tr>
              <a:tr h="561975">
                <a:tc>
                  <a:txBody>
                    <a:bodyPr lIns="114300" tIns="76200" rIns="114300" bIns="76200">
                      <a:noAutofit/>
                    </a:bodyPr>
                    <a:lstStyle/>
                    <a:p>
                      <a:r>
                        <a:rPr sz="1800" b="0">
                          <a:solidFill>
                            <a:srgbClr val="203544"/>
                          </a:solidFill>
                          <a:latin typeface="Arial"/>
                          <a:ea typeface="Arial"/>
                          <a:cs typeface="Arial"/>
                        </a:rPr>
                        <a:t>Predictor trails the fixed rule</a:t>
                      </a:r>
                    </a:p>
                  </a:txBody>
                  <a:tcPr marL="91440" marR="91440" marT="45720" marB="45720" anchor="ctr">
                    <a:solidFill>
                      <a:srgbClr val="FFFFFF"/>
                    </a:solidFill>
                  </a:tcPr>
                </a:tc>
                <a:tc>
                  <a:txBody>
                    <a:bodyPr lIns="114300" tIns="76200" rIns="114300" bIns="76200">
                      <a:noAutofit/>
                    </a:bodyPr>
                    <a:lstStyle/>
                    <a:p>
                      <a:r>
                        <a:rPr sz="1800" b="0">
                          <a:solidFill>
                            <a:srgbClr val="203544"/>
                          </a:solidFill>
                          <a:latin typeface="Arial"/>
                          <a:ea typeface="Arial"/>
                          <a:cs typeface="Arial"/>
                        </a:rPr>
                        <a:t>Now: fixed rule by default. Next: independent AI tests.</a:t>
                      </a:r>
                    </a:p>
                  </a:txBody>
                  <a:tcPr marL="91440" marR="91440" marT="45720" marB="45720" anchor="ctr">
                    <a:solidFill>
                      <a:srgbClr val="FFFFFF"/>
                    </a:solidFill>
                  </a:tcPr>
                </a:tc>
              </a:tr>
            </a:tbl>
          </a:graphicData>
        </a:graphic>
      </p:graphicFrame>
      <p:sp>
        <p:nvSpPr>
          <p:cNvPr id="17426" name="26 system tests. 6 additional process cases: ">
            <a:extLst xmlns:a="http://schemas.openxmlformats.org/drawingml/2006/main">
              <a:ext uri="{FF2B5EF4-FFF2-40B4-BE49-F238E27FC236}">
                <a16:creationId xmlns:a16="http://schemas.microsoft.com/office/drawing/2014/main" id="{6BB358EB-12A3-4F1D-9338-DA0BFC788F94}"/>
              </a:ext>
            </a:extLst>
          </p:cNvPr>
          <p:cNvSpPr>
            <a:spLocks xmlns:a="http://schemas.openxmlformats.org/drawingml/2006/main" noGrp="1"/>
          </p:cNvSpPr>
          <p:nvPr/>
        </p:nvSpPr>
        <p:spPr>
          <a:xfrm xmlns:a="http://schemas.openxmlformats.org/drawingml/2006/main">
            <a:off x="609600" y="60388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36778"/>
                </a:solidFill>
                <a:latin typeface="Arial"/>
                <a:ea typeface="Arial"/>
                <a:cs typeface="Arial"/>
              </a:defRPr>
            </a:pPr>
            <a:r>
              <a:rPr sz="1650" b="0">
                <a:solidFill>
                  <a:srgbClr val="536778"/>
                </a:solidFill>
                <a:latin typeface="Arial"/>
                <a:ea typeface="Arial"/>
                <a:cs typeface="Arial"/>
              </a:rPr>
              <a:t>51 system tests pass. Hosted runs save to Neon. Physical AMR validation remains future work.</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304701A0-4B49-410A-AA31-6982A4EDB64E}"/>
              </a:ext>
            </a:extLst>
          </p:cNvPr>
          <p:cNvSpPr>
            <a:spLocks xmlns:a="http://schemas.openxmlformats.org/drawingml/2006/main" noGrp="1"/>
          </p:cNvSpPr>
          <p:nvPr>
            <p:ph type="title" idx="0"/>
          </p:nvPr>
        </p:nvSpPr>
        <p:spPr>
          <a:xfrm xmlns:a="http://schemas.openxmlformats.org/drawingml/2006/main">
            <a:off x="1809750" y="209550"/>
            <a:ext cx="7829550" cy="9144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IMPACT AND BENEFITS</a:t>
            </a:r>
          </a:p>
        </p:txBody>
      </p:sp>
      <p:sp>
        <p:nvSpPr>
          <p:cNvPr id="17410" name="TextBox 8">
            <a:extLst xmlns:a="http://schemas.openxmlformats.org/drawingml/2006/main">
              <a:ext uri="{FF2B5EF4-FFF2-40B4-BE49-F238E27FC236}">
                <a16:creationId xmlns:a16="http://schemas.microsoft.com/office/drawing/2014/main" id="{E79C8B68-441D-4C15-BC97-702934DA84D1}"/>
              </a:ext>
            </a:extLst>
          </p:cNvPr>
          <p:cNvSpPr>
            <a:spLocks xmlns:a="http://schemas.openxmlformats.org/drawingml/2006/main" noGrp="1"/>
          </p:cNvSpPr>
          <p:nvPr/>
        </p:nvSpPr>
        <p:spPr>
          <a:xfrm xmlns:a="http://schemas.openxmlformats.org/drawingml/2006/main">
            <a:off x="609600" y="1476375"/>
            <a:ext cx="10972800" cy="35242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F497D"/>
                </a:solidFill>
                <a:latin typeface="Arial"/>
                <a:ea typeface="Arial"/>
                <a:cs typeface="Arial"/>
              </a:defRPr>
            </a:pPr>
            <a:r>
              <a:rPr sz="1875" b="1">
                <a:solidFill>
                  <a:srgbClr val="1F497D"/>
                </a:solidFill>
                <a:latin typeface="Arial"/>
                <a:ea typeface="Arial"/>
                <a:cs typeface="Arial"/>
              </a:rPr>
              <a:t>Potential impact on the target audience</a:t>
            </a:r>
          </a:p>
        </p:txBody>
      </p:sp>
      <p:sp>
        <p:nvSpPr>
          <p:cNvPr id="6" name="Slide Number Placeholder 5">
            <a:extLst xmlns:a="http://schemas.openxmlformats.org/drawingml/2006/main">
              <a:ext uri="{FF2B5EF4-FFF2-40B4-BE49-F238E27FC236}">
                <a16:creationId xmlns:a16="http://schemas.microsoft.com/office/drawing/2014/main" id="{F9B2C955-4193-4B2B-BA37-BABE08D84008}"/>
              </a:ext>
            </a:extLst>
          </p:cNvPr>
          <p:cNvSpPr>
            <a:spLocks xmlns:a="http://schemas.openxmlformats.org/drawingml/2006/main" noGrp="1"/>
          </p:cNvSpPr>
          <p:nvPr>
            <p:ph type="sldNum" idx="12"/>
          </p:nvPr>
        </p:nvSpPr>
        <p:spPr>
          <a:xfrm xmlns:a="http://schemas.openxmlformats.org/drawingml/2006/main">
            <a:off x="11344275" y="6448425"/>
            <a:ext cx="381000" cy="247650"/>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00" b="1">
                <a:solidFill>
                  <a:srgbClr val="FFFFFF"/>
                </a:solidFill>
                <a:latin typeface="Arial"/>
                <a:ea typeface="Arial"/>
                <a:cs typeface="Arial"/>
              </a:defRPr>
            </a:pPr>
            <a:fld id="{EE5B3003-2C54-13C6-9832-7637201064DE}" type="slidenum">
              <a:rPr sz="1200" b="1" i="0" u="none" cap="none" spc="0">
                <a:ln>
                  <a:noFill/>
                </a:ln>
                <a:solidFill>
                  <a:srgbClr val="FFFFFF"/>
                </a:solidFill>
                <a:latin typeface="Arial"/>
                <a:ea typeface="Arial"/>
                <a:cs typeface="Arial"/>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A9967CEE-099C-42AB-AB8D-B709A74EC1BE}"/>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[Team</a:t>
            </a:r>
            <a:endParaRPr/>
          </a:p>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name]</a:t>
            </a:r>
            <a:endParaRPr/>
          </a:p>
        </p:txBody>
      </p:sp>
      <p:pic>
        <p:nvPicPr>
          <p:cNvPr id="17440" name="Picture 10"/>
          <p:cNvPicPr>
            <a:picLocks xmlns:a="http://schemas.openxmlformats.org/drawingml/2006/main" noChangeAspect="1"/>
          </p:cNvPicPr>
          <p:nvPr/>
        </p:nvPicPr>
        <p:blipFill>
          <a:blip xmlns:r="http://schemas.openxmlformats.org/officeDocument/2006/relationships" xmlns:a="http://schemas.openxmlformats.org/drawingml/2006/main" r:embed="Raef629a4dc7b45c0"/>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8" name="For AMR manufacturers and warehouse integrato">
            <a:extLst xmlns:a="http://schemas.openxmlformats.org/drawingml/2006/main">
              <a:ext uri="{FF2B5EF4-FFF2-40B4-BE49-F238E27FC236}">
                <a16:creationId xmlns:a16="http://schemas.microsoft.com/office/drawing/2014/main" id="{202FBAC4-04E1-40EC-8465-199C793A701B}"/>
              </a:ext>
            </a:extLst>
          </p:cNvPr>
          <p:cNvSpPr>
            <a:spLocks xmlns:a="http://schemas.openxmlformats.org/drawingml/2006/main" noGrp="1"/>
          </p:cNvSpPr>
          <p:nvPr/>
        </p:nvSpPr>
        <p:spPr>
          <a:xfrm xmlns:a="http://schemas.openxmlformats.org/drawingml/2006/main">
            <a:off x="609600" y="19145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1">
                <a:solidFill>
                  <a:srgbClr val="102D43"/>
                </a:solidFill>
                <a:latin typeface="Arial"/>
                <a:ea typeface="Arial"/>
                <a:cs typeface="Arial"/>
              </a:defRPr>
            </a:pPr>
            <a:r>
              <a:rPr sz="2475" b="1">
                <a:solidFill>
                  <a:srgbClr val="102D43"/>
                </a:solidFill>
                <a:latin typeface="Arial"/>
                <a:ea typeface="Arial"/>
                <a:cs typeface="Arial"/>
              </a:rPr>
              <a:t>For AMR manufacturers and warehouse integrators</a:t>
            </a:r>
          </a:p>
        </p:txBody>
      </p:sp>
      <p:sp>
        <p:nvSpPr>
          <p:cNvPr id="17419" name="Pilot offer: one warehouse map, then three AM">
            <a:extLst xmlns:a="http://schemas.openxmlformats.org/drawingml/2006/main">
              <a:ext uri="{FF2B5EF4-FFF2-40B4-BE49-F238E27FC236}">
                <a16:creationId xmlns:a16="http://schemas.microsoft.com/office/drawing/2014/main" id="{838B4999-D83A-4AD4-BEE4-BAB203707D53}"/>
              </a:ext>
            </a:extLst>
          </p:cNvPr>
          <p:cNvSpPr>
            <a:spLocks xmlns:a="http://schemas.openxmlformats.org/drawingml/2006/main" noGrp="1"/>
          </p:cNvSpPr>
          <p:nvPr/>
        </p:nvSpPr>
        <p:spPr>
          <a:xfrm xmlns:a="http://schemas.openxmlformats.org/drawingml/2006/main">
            <a:off x="609600" y="23717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536778"/>
                </a:solidFill>
                <a:latin typeface="Arial"/>
                <a:ea typeface="Arial"/>
                <a:cs typeface="Arial"/>
              </a:defRPr>
            </a:pPr>
            <a:r>
              <a:rPr sz="1800" b="0">
                <a:solidFill>
                  <a:srgbClr val="536778"/>
                </a:solidFill>
                <a:latin typeface="Arial"/>
                <a:ea typeface="Arial"/>
                <a:cs typeface="Arial"/>
              </a:rPr>
              <a:t>Pilot offer: one warehouse map, then three AMRs. Revenue: integration + support.</a:t>
            </a:r>
          </a:p>
        </p:txBody>
      </p:sp>
      <p:sp>
        <p:nvSpPr>
          <p:cNvPr id="17420" name="Benefits of the solution">
            <a:extLst xmlns:a="http://schemas.openxmlformats.org/drawingml/2006/main">
              <a:ext uri="{FF2B5EF4-FFF2-40B4-BE49-F238E27FC236}">
                <a16:creationId xmlns:a16="http://schemas.microsoft.com/office/drawing/2014/main" id="{37B8EEDA-EFDD-4596-8554-2B3BC291B91B}"/>
              </a:ext>
            </a:extLst>
          </p:cNvPr>
          <p:cNvSpPr>
            <a:spLocks xmlns:a="http://schemas.openxmlformats.org/drawingml/2006/main" noGrp="1"/>
          </p:cNvSpPr>
          <p:nvPr/>
        </p:nvSpPr>
        <p:spPr>
          <a:xfrm xmlns:a="http://schemas.openxmlformats.org/drawingml/2006/main">
            <a:off x="609600" y="2867025"/>
            <a:ext cx="7105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F497D"/>
                </a:solidFill>
                <a:latin typeface="Arial"/>
                <a:ea typeface="Arial"/>
                <a:cs typeface="Arial"/>
              </a:defRPr>
            </a:pPr>
            <a:r>
              <a:rPr sz="1875" b="1">
                <a:solidFill>
                  <a:srgbClr val="1F497D"/>
                </a:solidFill>
                <a:latin typeface="Arial"/>
                <a:ea typeface="Arial"/>
                <a:cs typeface="Arial"/>
              </a:rPr>
              <a:t>Benefits of the solution</a:t>
            </a:r>
          </a:p>
        </p:txBody>
      </p:sp>
      <p:sp>
        <p:nvSpPr>
          <p:cNvPr id="17421" name="">
            <a:extLst xmlns:a="http://schemas.openxmlformats.org/drawingml/2006/main">
              <a:ext uri="{FF2B5EF4-FFF2-40B4-BE49-F238E27FC236}">
                <a16:creationId xmlns:a16="http://schemas.microsoft.com/office/drawing/2014/main" id="{A41AA11D-BF33-4E20-8E1E-08FA02C14E8E}"/>
              </a:ext>
            </a:extLst>
          </p:cNvPr>
          <p:cNvSpPr>
            <a:spLocks xmlns:a="http://schemas.openxmlformats.org/drawingml/2006/main" noGrp="1"/>
          </p:cNvSpPr>
          <p:nvPr/>
        </p:nvSpPr>
        <p:spPr>
          <a:xfrm xmlns:a="http://schemas.openxmlformats.org/drawingml/2006/main">
            <a:off x="609600" y="3286125"/>
            <a:ext cx="142875" cy="142875"/>
          </a:xfrm>
          <a:prstGeom xmlns:a="http://schemas.openxmlformats.org/drawingml/2006/main" prst="rect">
            <a:avLst/>
          </a:prstGeom>
          <a:solidFill xmlns:a="http://schemas.openxmlformats.org/drawingml/2006/main">
            <a:srgbClr val="14754B"/>
          </a:solidFill>
          <a:ln xmlns:a="http://schemas.openxmlformats.org/drawingml/2006/main" w="19050">
            <a:solidFill>
              <a:srgbClr val="14754B"/>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7422" name="Fixed rule (default)">
            <a:extLst xmlns:a="http://schemas.openxmlformats.org/drawingml/2006/main">
              <a:ext uri="{FF2B5EF4-FFF2-40B4-BE49-F238E27FC236}">
                <a16:creationId xmlns:a16="http://schemas.microsoft.com/office/drawing/2014/main" id="{67E920D0-2A34-42E6-B8A9-C681746EB1DC}"/>
              </a:ext>
            </a:extLst>
          </p:cNvPr>
          <p:cNvSpPr>
            <a:spLocks xmlns:a="http://schemas.openxmlformats.org/drawingml/2006/main" noGrp="1"/>
          </p:cNvSpPr>
          <p:nvPr/>
        </p:nvSpPr>
        <p:spPr>
          <a:xfrm xmlns:a="http://schemas.openxmlformats.org/drawingml/2006/main">
            <a:off x="857250" y="32385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203544"/>
                </a:solidFill>
                <a:latin typeface="Arial"/>
                <a:ea typeface="Arial"/>
                <a:cs typeface="Arial"/>
              </a:defRPr>
            </a:pPr>
            <a:r>
              <a:rPr sz="1500" b="0">
                <a:solidFill>
                  <a:srgbClr val="203544"/>
                </a:solidFill>
                <a:latin typeface="Arial"/>
                <a:ea typeface="Arial"/>
                <a:cs typeface="Arial"/>
              </a:rPr>
              <a:t>Fixed rule (default)</a:t>
            </a:r>
          </a:p>
        </p:txBody>
      </p:sp>
      <p:sp>
        <p:nvSpPr>
          <p:cNvPr id="17423" name="">
            <a:extLst xmlns:a="http://schemas.openxmlformats.org/drawingml/2006/main">
              <a:ext uri="{FF2B5EF4-FFF2-40B4-BE49-F238E27FC236}">
                <a16:creationId xmlns:a16="http://schemas.microsoft.com/office/drawing/2014/main" id="{2C3C81B9-CA52-498C-8915-EE492F6B6C14}"/>
              </a:ext>
            </a:extLst>
          </p:cNvPr>
          <p:cNvSpPr>
            <a:spLocks xmlns:a="http://schemas.openxmlformats.org/drawingml/2006/main" noGrp="1"/>
          </p:cNvSpPr>
          <p:nvPr/>
        </p:nvSpPr>
        <p:spPr>
          <a:xfrm xmlns:a="http://schemas.openxmlformats.org/drawingml/2006/main">
            <a:off x="3619500" y="3286125"/>
            <a:ext cx="142875" cy="142875"/>
          </a:xfrm>
          <a:prstGeom xmlns:a="http://schemas.openxmlformats.org/drawingml/2006/main" prst="rect">
            <a:avLst/>
          </a:prstGeom>
          <a:solidFill xmlns:a="http://schemas.openxmlformats.org/drawingml/2006/main">
            <a:srgbClr val="7799B6"/>
          </a:solidFill>
          <a:ln xmlns:a="http://schemas.openxmlformats.org/drawingml/2006/main" w="19050">
            <a:solidFill>
              <a:srgbClr val="7799B6"/>
            </a:solidFill>
          </a:ln>
        </p:spPr>
        <p:txBody>
          <a:bodyPr xmlns:a="http://schemas.openxmlformats.org/drawingml/2006/main" wrap="square" lIns="66675" tIns="66675" rIns="66675" bIns="66675" anchor="ctr">
            <a:noAutofit/>
          </a:bodyPr>
          <a:lstStyle xmlns:a="http://schemas.openxmlformats.org/drawingml/2006/main"/>
          <a:p xmlns:a="http://schemas.openxmlformats.org/drawingml/2006/main">
            <a:r>
              <a:t/>
            </a:r>
          </a:p>
        </p:txBody>
      </p:sp>
      <p:sp>
        <p:nvSpPr>
          <p:cNvPr id="17424" name="Learned delay">
            <a:extLst xmlns:a="http://schemas.openxmlformats.org/drawingml/2006/main">
              <a:ext uri="{FF2B5EF4-FFF2-40B4-BE49-F238E27FC236}">
                <a16:creationId xmlns:a16="http://schemas.microsoft.com/office/drawing/2014/main" id="{2AA0D598-6403-40F4-A7AC-5762D7BDC245}"/>
              </a:ext>
            </a:extLst>
          </p:cNvPr>
          <p:cNvSpPr>
            <a:spLocks xmlns:a="http://schemas.openxmlformats.org/drawingml/2006/main" noGrp="1"/>
          </p:cNvSpPr>
          <p:nvPr/>
        </p:nvSpPr>
        <p:spPr>
          <a:xfrm xmlns:a="http://schemas.openxmlformats.org/drawingml/2006/main">
            <a:off x="3867150" y="323850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203544"/>
                </a:solidFill>
                <a:latin typeface="Arial"/>
                <a:ea typeface="Arial"/>
                <a:cs typeface="Arial"/>
              </a:defRPr>
            </a:pPr>
            <a:r>
              <a:rPr sz="1500" b="0">
                <a:solidFill>
                  <a:srgbClr val="203544"/>
                </a:solidFill>
                <a:latin typeface="Arial"/>
                <a:ea typeface="Arial"/>
                <a:cs typeface="Arial"/>
              </a:rPr>
              <a:t>Learned delay</a:t>
            </a:r>
          </a:p>
        </p:txBody>
      </p:sp>
      <p:graphicFrame>
        <p:nvGraphicFramePr>
          <p:cNvPr id="17448" name="Chart"/>
          <p:cNvGraphicFramePr/>
          <p:nvPr/>
        </p:nvGraphicFramePr>
        <p:xfrm>
          <a:off xmlns:a="http://schemas.openxmlformats.org/drawingml/2006/main" x="457200" y="3629025"/>
          <a:ext xmlns:a="http://schemas.openxmlformats.org/drawingml/2006/main" cx="7410450" cy="2066925"/>
        </p:xfrm>
        <a:graphic xmlns:a="http://schemas.openxmlformats.org/drawingml/2006/main">
          <a:graphicData uri="http://schemas.openxmlformats.org/drawingml/2006/chart">
            <c:chart xmlns:r="http://schemas.openxmlformats.org/officeDocument/2006/relationships" xmlns:c="http://schemas.openxmlformats.org/drawingml/2006/chart" r:id="Re400150ad8634ef1"/>
          </a:graphicData>
        </a:graphic>
      </p:graphicFrame>
      <p:sp>
        <p:nvSpPr>
          <p:cNvPr id="17426" name="25.2%">
            <a:extLst xmlns:a="http://schemas.openxmlformats.org/drawingml/2006/main">
              <a:ext uri="{FF2B5EF4-FFF2-40B4-BE49-F238E27FC236}">
                <a16:creationId xmlns:a16="http://schemas.microsoft.com/office/drawing/2014/main" id="{9F033EB5-DD16-43F7-AC98-52807A75978F}"/>
              </a:ext>
            </a:extLst>
          </p:cNvPr>
          <p:cNvSpPr>
            <a:spLocks xmlns:a="http://schemas.openxmlformats.org/drawingml/2006/main" noGrp="1"/>
          </p:cNvSpPr>
          <p:nvPr/>
        </p:nvSpPr>
        <p:spPr>
          <a:xfrm xmlns:a="http://schemas.openxmlformats.org/drawingml/2006/main">
            <a:off x="8353425" y="2971800"/>
            <a:ext cx="31908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950" b="1">
                <a:solidFill>
                  <a:srgbClr val="14754B"/>
                </a:solidFill>
                <a:latin typeface="Arial"/>
                <a:ea typeface="Arial"/>
                <a:cs typeface="Arial"/>
              </a:defRPr>
            </a:pPr>
            <a:r>
              <a:rPr sz="4950" b="1">
                <a:solidFill>
                  <a:srgbClr val="14754B"/>
                </a:solidFill>
                <a:latin typeface="Arial"/>
                <a:ea typeface="Arial"/>
                <a:cs typeface="Arial"/>
              </a:rPr>
              <a:t>25.2%</a:t>
            </a:r>
          </a:p>
        </p:txBody>
      </p:sp>
      <p:sp>
        <p:nvSpPr>
          <p:cNvPr id="17427" name="less time in extended congestion">
            <a:extLst xmlns:a="http://schemas.openxmlformats.org/drawingml/2006/main">
              <a:ext uri="{FF2B5EF4-FFF2-40B4-BE49-F238E27FC236}">
                <a16:creationId xmlns:a16="http://schemas.microsoft.com/office/drawing/2014/main" id="{BF0C6581-DA7B-4D4A-B8E3-71B6CDB0B21E}"/>
              </a:ext>
            </a:extLst>
          </p:cNvPr>
          <p:cNvSpPr>
            <a:spLocks xmlns:a="http://schemas.openxmlformats.org/drawingml/2006/main" noGrp="1"/>
          </p:cNvSpPr>
          <p:nvPr/>
        </p:nvSpPr>
        <p:spPr>
          <a:xfrm xmlns:a="http://schemas.openxmlformats.org/drawingml/2006/main">
            <a:off x="8362950" y="3743325"/>
            <a:ext cx="320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02D43"/>
                </a:solidFill>
                <a:latin typeface="Arial"/>
                <a:ea typeface="Arial"/>
                <a:cs typeface="Arial"/>
              </a:defRPr>
            </a:pPr>
            <a:r>
              <a:rPr sz="1800" b="0">
                <a:solidFill>
                  <a:srgbClr val="102D43"/>
                </a:solidFill>
                <a:latin typeface="Arial"/>
                <a:ea typeface="Arial"/>
                <a:cs typeface="Arial"/>
              </a:rPr>
              <a:t>less time in extended congestion</a:t>
            </a:r>
          </a:p>
        </p:txBody>
      </p:sp>
      <p:sp>
        <p:nvSpPr>
          <p:cNvPr id="17428" name="26.0%">
            <a:extLst xmlns:a="http://schemas.openxmlformats.org/drawingml/2006/main">
              <a:ext uri="{FF2B5EF4-FFF2-40B4-BE49-F238E27FC236}">
                <a16:creationId xmlns:a16="http://schemas.microsoft.com/office/drawing/2014/main" id="{DD797FF1-84AA-4955-B2DB-DC73BD322F75}"/>
              </a:ext>
            </a:extLst>
          </p:cNvPr>
          <p:cNvSpPr>
            <a:spLocks xmlns:a="http://schemas.openxmlformats.org/drawingml/2006/main" noGrp="1"/>
          </p:cNvSpPr>
          <p:nvPr/>
        </p:nvSpPr>
        <p:spPr>
          <a:xfrm xmlns:a="http://schemas.openxmlformats.org/drawingml/2006/main">
            <a:off x="8353425" y="4476750"/>
            <a:ext cx="319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950" b="1">
                <a:solidFill>
                  <a:srgbClr val="14754B"/>
                </a:solidFill>
                <a:latin typeface="Arial"/>
                <a:ea typeface="Arial"/>
                <a:cs typeface="Arial"/>
              </a:defRPr>
            </a:pPr>
            <a:r>
              <a:rPr sz="4950" b="1">
                <a:solidFill>
                  <a:srgbClr val="14754B"/>
                </a:solidFill>
                <a:latin typeface="Arial"/>
                <a:ea typeface="Arial"/>
                <a:cs typeface="Arial"/>
              </a:rPr>
              <a:t>26.0%</a:t>
            </a:r>
          </a:p>
        </p:txBody>
      </p:sp>
      <p:sp>
        <p:nvSpPr>
          <p:cNvPr id="17429" name="less time with loss and delay">
            <a:extLst xmlns:a="http://schemas.openxmlformats.org/drawingml/2006/main">
              <a:ext uri="{FF2B5EF4-FFF2-40B4-BE49-F238E27FC236}">
                <a16:creationId xmlns:a16="http://schemas.microsoft.com/office/drawing/2014/main" id="{48101870-5C30-429B-8D9C-5AB36E8008E4}"/>
              </a:ext>
            </a:extLst>
          </p:cNvPr>
          <p:cNvSpPr>
            <a:spLocks xmlns:a="http://schemas.openxmlformats.org/drawingml/2006/main" noGrp="1"/>
          </p:cNvSpPr>
          <p:nvPr/>
        </p:nvSpPr>
        <p:spPr>
          <a:xfrm xmlns:a="http://schemas.openxmlformats.org/drawingml/2006/main">
            <a:off x="8362950" y="5238750"/>
            <a:ext cx="320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02D43"/>
                </a:solidFill>
                <a:latin typeface="Arial"/>
                <a:ea typeface="Arial"/>
                <a:cs typeface="Arial"/>
              </a:defRPr>
            </a:pPr>
            <a:r>
              <a:rPr sz="1800" b="0">
                <a:solidFill>
                  <a:srgbClr val="102D43"/>
                </a:solidFill>
                <a:latin typeface="Arial"/>
                <a:ea typeface="Arial"/>
                <a:cs typeface="Arial"/>
              </a:rPr>
              <a:t>less time with loss and delay</a:t>
            </a:r>
          </a:p>
        </p:txBody>
      </p:sp>
      <p:sp>
        <p:nvSpPr>
          <p:cNvPr id="17430" name="Both vs the included sequential baseline. 8 r">
            <a:extLst xmlns:a="http://schemas.openxmlformats.org/drawingml/2006/main">
              <a:ext uri="{FF2B5EF4-FFF2-40B4-BE49-F238E27FC236}">
                <a16:creationId xmlns:a16="http://schemas.microsoft.com/office/drawing/2014/main" id="{F8C069BC-C7B7-411D-A791-CB8FACAEC40A}"/>
              </a:ext>
            </a:extLst>
          </p:cNvPr>
          <p:cNvSpPr>
            <a:spLocks xmlns:a="http://schemas.openxmlformats.org/drawingml/2006/main" noGrp="1"/>
          </p:cNvSpPr>
          <p:nvPr/>
        </p:nvSpPr>
        <p:spPr>
          <a:xfrm xmlns:a="http://schemas.openxmlformats.org/drawingml/2006/main">
            <a:off x="609600" y="581977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36778"/>
                </a:solidFill>
                <a:latin typeface="Arial"/>
                <a:ea typeface="Arial"/>
                <a:cs typeface="Arial"/>
              </a:defRPr>
            </a:pPr>
            <a:r>
              <a:rPr sz="1575" b="0">
                <a:solidFill>
                  <a:srgbClr val="536778"/>
                </a:solidFill>
                <a:latin typeface="Arial"/>
                <a:ea typeface="Arial"/>
                <a:cs typeface="Arial"/>
              </a:rPr>
              <a:t>Both vs the included sequential baseline. 8 runs per bar. Return to dock included.</a:t>
            </a:r>
          </a:p>
        </p:txBody>
      </p:sp>
      <p:sp>
        <p:nvSpPr>
          <p:cNvPr id="17431" name="20% target met in 2 of 5 means. The fixed rul">
            <a:extLst xmlns:a="http://schemas.openxmlformats.org/drawingml/2006/main">
              <a:ext uri="{FF2B5EF4-FFF2-40B4-BE49-F238E27FC236}">
                <a16:creationId xmlns:a16="http://schemas.microsoft.com/office/drawing/2014/main" id="{DBE3395C-3DC5-4C3F-882A-AABB9C5235E5}"/>
              </a:ext>
            </a:extLst>
          </p:cNvPr>
          <p:cNvSpPr>
            <a:spLocks xmlns:a="http://schemas.openxmlformats.org/drawingml/2006/main" noGrp="1"/>
          </p:cNvSpPr>
          <p:nvPr/>
        </p:nvSpPr>
        <p:spPr>
          <a:xfrm xmlns:a="http://schemas.openxmlformats.org/drawingml/2006/main">
            <a:off x="609600" y="608647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36778"/>
                </a:solidFill>
                <a:latin typeface="Arial"/>
                <a:ea typeface="Arial"/>
                <a:cs typeface="Arial"/>
              </a:defRPr>
            </a:pPr>
            <a:r>
              <a:rPr sz="1575" b="0">
                <a:solidFill>
                  <a:srgbClr val="536778"/>
                </a:solidFill>
                <a:latin typeface="Arial"/>
                <a:ea typeface="Arial"/>
                <a:cs typeface="Arial"/>
              </a:rPr>
              <a:t>20% target met in 2 of 5 means. The fixed rule is faster in 4 of 5 scenario averages.</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EF5FB2B8-0DE9-4404-A446-95282694C5C0}"/>
              </a:ext>
            </a:extLst>
          </p:cNvPr>
          <p:cNvSpPr>
            <a:spLocks xmlns:a="http://schemas.openxmlformats.org/drawingml/2006/main" noGrp="1"/>
          </p:cNvSpPr>
          <p:nvPr>
            <p:ph type="title" idx="0"/>
          </p:nvPr>
        </p:nvSpPr>
        <p:spPr>
          <a:xfrm xmlns:a="http://schemas.openxmlformats.org/drawingml/2006/main">
            <a:off x="1809750" y="209550"/>
            <a:ext cx="7829550" cy="914400"/>
          </a:xfrm>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600" b="1">
                <a:solidFill>
                  <a:srgbClr val="000000"/>
                </a:solidFill>
                <a:latin typeface="Times New Roman"/>
                <a:ea typeface="Times New Roman"/>
                <a:cs typeface="Times New Roman"/>
              </a:defRPr>
            </a:pPr>
            <a:r>
              <a:rPr sz="3600" b="1">
                <a:solidFill>
                  <a:srgbClr val="000000"/>
                </a:solidFill>
                <a:latin typeface="Times New Roman"/>
                <a:ea typeface="Times New Roman"/>
                <a:cs typeface="Times New Roman"/>
              </a:rPr>
              <a:t>RESEARCH  AND REFERENCES</a:t>
            </a:r>
          </a:p>
        </p:txBody>
      </p:sp>
      <p:sp>
        <p:nvSpPr>
          <p:cNvPr id="17410" name="TextBox 8">
            <a:extLst xmlns:a="http://schemas.openxmlformats.org/drawingml/2006/main">
              <a:ext uri="{FF2B5EF4-FFF2-40B4-BE49-F238E27FC236}">
                <a16:creationId xmlns:a16="http://schemas.microsoft.com/office/drawing/2014/main" id="{BB4CF482-A8CB-411B-A801-5CD38649C3A8}"/>
              </a:ext>
            </a:extLst>
          </p:cNvPr>
          <p:cNvSpPr>
            <a:spLocks xmlns:a="http://schemas.openxmlformats.org/drawingml/2006/main" noGrp="1"/>
          </p:cNvSpPr>
          <p:nvPr/>
        </p:nvSpPr>
        <p:spPr>
          <a:xfrm xmlns:a="http://schemas.openxmlformats.org/drawingml/2006/main">
            <a:off x="609600" y="1543050"/>
            <a:ext cx="10972800" cy="35242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1F497D"/>
                </a:solidFill>
                <a:latin typeface="Arial"/>
                <a:ea typeface="Arial"/>
                <a:cs typeface="Arial"/>
              </a:defRPr>
            </a:pPr>
            <a:r>
              <a:rPr sz="1950" b="1">
                <a:solidFill>
                  <a:srgbClr val="1F497D"/>
                </a:solidFill>
                <a:latin typeface="Arial"/>
                <a:ea typeface="Arial"/>
                <a:cs typeface="Arial"/>
              </a:rPr>
              <a:t>Details / Links of the reference and research work</a:t>
            </a:r>
          </a:p>
        </p:txBody>
      </p:sp>
      <p:sp>
        <p:nvSpPr>
          <p:cNvPr id="6" name="Slide Number Placeholder 5">
            <a:extLst xmlns:a="http://schemas.openxmlformats.org/drawingml/2006/main">
              <a:ext uri="{FF2B5EF4-FFF2-40B4-BE49-F238E27FC236}">
                <a16:creationId xmlns:a16="http://schemas.microsoft.com/office/drawing/2014/main" id="{164B526A-C393-42F0-AB65-B7C1F39973D1}"/>
              </a:ext>
            </a:extLst>
          </p:cNvPr>
          <p:cNvSpPr>
            <a:spLocks xmlns:a="http://schemas.openxmlformats.org/drawingml/2006/main" noGrp="1"/>
          </p:cNvSpPr>
          <p:nvPr>
            <p:ph type="sldNum" idx="12"/>
          </p:nvPr>
        </p:nvSpPr>
        <p:spPr>
          <a:xfrm xmlns:a="http://schemas.openxmlformats.org/drawingml/2006/main">
            <a:off x="11344275" y="6448425"/>
            <a:ext cx="381000" cy="247650"/>
          </a:xfrm>
        </p:spPr>
        <p:txBody>
          <a:bodyPr xmlns:a="http://schemas.openxmlformats.org/drawingml/2006/main" wrap="square" lIns="0" tIns="0" rIns="0" bIns="0" anchor="t">
            <a:noAutofit/>
          </a:bodyPr>
          <a:lstStyle xmlns:a="http://schemas.openxmlformats.org/drawingml/2006/main"/>
          <a:p xmlns:a="http://schemas.openxmlformats.org/drawingml/2006/main">
            <a:pPr marL="0" marR="0" lvl="0" indent="0" algn="l" defTabSz="457200">
              <a:lnSpc>
                <a:spcPct val="100000"/>
              </a:lnSpc>
              <a:spcBef>
                <a:spcPct val="0"/>
              </a:spcBef>
              <a:spcAft>
                <a:spcPct val="0"/>
              </a:spcAft>
              <a:buClrTx/>
              <a:buSzTx/>
              <a:buFontTx/>
              <a:buNone/>
              <a:defRPr sz="1200" b="1">
                <a:solidFill>
                  <a:srgbClr val="FFFFFF"/>
                </a:solidFill>
                <a:latin typeface="Arial"/>
                <a:ea typeface="Arial"/>
                <a:cs typeface="Arial"/>
              </a:defRPr>
            </a:pPr>
            <a:fld id="{8C630A04-5A25-9E0C-9436-126091DB86B3}" type="slidenum">
              <a:rPr sz="1200" b="1" i="0" u="none" cap="none" spc="0">
                <a:ln>
                  <a:noFill/>
                </a:ln>
                <a:solidFill>
                  <a:srgbClr val="FFFFFF"/>
                </a:solidFill>
                <a:latin typeface="Arial"/>
                <a:ea typeface="Arial"/>
                <a:cs typeface="Arial"/>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73B5EACD-E3E6-4369-98AC-49A8E26AECF5}"/>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noAutofit/>
          </a:bodyPr>
          <a:lstStyle xmlns:a="http://schemas.openxmlformats.org/drawingml/2006/main"/>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[Team</a:t>
            </a:r>
            <a:endParaRPr/>
          </a:p>
          <a:p xmlns:a="http://schemas.openxmlformats.org/drawingml/2006/main">
            <a:pPr algn="ctr">
              <a:buNone/>
              <a:defRPr sz="1725">
                <a:solidFill>
                  <a:srgbClr val="000000"/>
                </a:solidFill>
                <a:latin typeface="Arial"/>
                <a:ea typeface="Arial"/>
                <a:cs typeface="Arial"/>
              </a:defRPr>
            </a:pPr>
            <a:r>
              <a:rPr sz="1725">
                <a:solidFill>
                  <a:srgbClr val="000000"/>
                </a:solidFill>
                <a:latin typeface="Arial"/>
                <a:ea typeface="Arial"/>
                <a:cs typeface="Arial"/>
              </a:rPr>
              <a:t>name]</a:t>
            </a:r>
            <a:endParaRPr/>
          </a:p>
        </p:txBody>
      </p:sp>
      <p:pic>
        <p:nvPicPr>
          <p:cNvPr id="17447" name="Picture 11"/>
          <p:cNvPicPr>
            <a:picLocks xmlns:a="http://schemas.openxmlformats.org/drawingml/2006/main" noChangeAspect="1"/>
          </p:cNvPicPr>
          <p:nvPr/>
        </p:nvPicPr>
        <p:blipFill>
          <a:blip xmlns:r="http://schemas.openxmlformats.org/officeDocument/2006/relationships" xmlns:a="http://schemas.openxmlformats.org/drawingml/2006/main" r:embed="Rd8d729b4d10f420c"/>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26" name="01  Problem statement">
            <a:extLst xmlns:a="http://schemas.openxmlformats.org/drawingml/2006/main">
              <a:ext uri="{FF2B5EF4-FFF2-40B4-BE49-F238E27FC236}">
                <a16:creationId xmlns:a16="http://schemas.microsoft.com/office/drawing/2014/main" id="{2B5A666B-223B-40A9-BA8E-967698581131}"/>
              </a:ext>
            </a:extLst>
          </p:cNvPr>
          <p:cNvSpPr>
            <a:spLocks xmlns:a="http://schemas.openxmlformats.org/drawingml/2006/main" noGrp="1"/>
          </p:cNvSpPr>
          <p:nvPr/>
        </p:nvSpPr>
        <p:spPr>
          <a:xfrm xmlns:a="http://schemas.openxmlformats.org/drawingml/2006/main">
            <a:off x="609600" y="2200275"/>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F497D"/>
                </a:solidFill>
                <a:latin typeface="Arial"/>
                <a:ea typeface="Arial"/>
                <a:cs typeface="Arial"/>
              </a:defRPr>
            </a:pPr>
            <a:r>
              <a:rPr sz="2025" b="1">
                <a:solidFill>
                  <a:srgbClr val="1F497D"/>
                </a:solidFill>
                <a:latin typeface="Arial"/>
                <a:ea typeface="Arial"/>
                <a:cs typeface="Arial"/>
                <a:hlinkClick xmlns:r="http://schemas.openxmlformats.org/officeDocument/2006/relationships" r:id="R88901e6851be4930"/>
              </a:rPr>
              <a:t>01  Problem statement</a:t>
            </a:r>
          </a:p>
        </p:txBody>
      </p:sp>
      <p:sp>
        <p:nvSpPr>
          <p:cNvPr id="17427" name="SIH 2026, PS 26123&#10;Requirements from the supp">
            <a:extLst xmlns:a="http://schemas.openxmlformats.org/drawingml/2006/main">
              <a:ext uri="{FF2B5EF4-FFF2-40B4-BE49-F238E27FC236}">
                <a16:creationId xmlns:a16="http://schemas.microsoft.com/office/drawing/2014/main" id="{35A75990-5385-4DD7-8279-400FEE5257AB}"/>
              </a:ext>
            </a:extLst>
          </p:cNvPr>
          <p:cNvSpPr>
            <a:spLocks xmlns:a="http://schemas.openxmlformats.org/drawingml/2006/main" noGrp="1"/>
          </p:cNvSpPr>
          <p:nvPr/>
        </p:nvSpPr>
        <p:spPr>
          <a:xfrm xmlns:a="http://schemas.openxmlformats.org/drawingml/2006/main">
            <a:off x="609600" y="2638425"/>
            <a:ext cx="5105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203544"/>
                </a:solidFill>
                <a:latin typeface="Arial"/>
                <a:ea typeface="Arial"/>
                <a:cs typeface="Arial"/>
              </a:defRPr>
            </a:pPr>
            <a:r>
              <a:rPr sz="1800" b="0">
                <a:solidFill>
                  <a:srgbClr val="203544"/>
                </a:solidFill>
                <a:latin typeface="Arial"/>
                <a:ea typeface="Arial"/>
                <a:cs typeface="Arial"/>
              </a:rPr>
              <a:t>SIH 2026, PS 26123</a:t>
            </a:r>
          </a:p>
          <a:p xmlns:a="http://schemas.openxmlformats.org/drawingml/2006/main">
            <a:pPr algn="l">
              <a:buNone/>
              <a:defRPr sz="1800" b="0">
                <a:solidFill>
                  <a:srgbClr val="203544"/>
                </a:solidFill>
                <a:latin typeface="Arial"/>
                <a:ea typeface="Arial"/>
                <a:cs typeface="Arial"/>
              </a:defRPr>
            </a:pPr>
            <a:r>
              <a:rPr sz="1800" b="0">
                <a:solidFill>
                  <a:srgbClr val="203544"/>
                </a:solidFill>
                <a:latin typeface="Arial"/>
                <a:ea typeface="Arial"/>
                <a:cs typeface="Arial"/>
              </a:rPr>
              <a:t>Requirements from the supplied screenshots.</a:t>
            </a:r>
          </a:p>
        </p:txBody>
      </p:sp>
      <p:sp>
        <p:nvSpPr>
          <p:cNvPr id="17428" name="02  Coordination method">
            <a:extLst xmlns:a="http://schemas.openxmlformats.org/drawingml/2006/main">
              <a:ext uri="{FF2B5EF4-FFF2-40B4-BE49-F238E27FC236}">
                <a16:creationId xmlns:a16="http://schemas.microsoft.com/office/drawing/2014/main" id="{08985A13-9F84-488F-959F-95F915BB1C5F}"/>
              </a:ext>
            </a:extLst>
          </p:cNvPr>
          <p:cNvSpPr>
            <a:spLocks xmlns:a="http://schemas.openxmlformats.org/drawingml/2006/main" noGrp="1"/>
          </p:cNvSpPr>
          <p:nvPr/>
        </p:nvSpPr>
        <p:spPr>
          <a:xfrm xmlns:a="http://schemas.openxmlformats.org/drawingml/2006/main">
            <a:off x="609600" y="3371850"/>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F497D"/>
                </a:solidFill>
                <a:latin typeface="Arial"/>
                <a:ea typeface="Arial"/>
                <a:cs typeface="Arial"/>
              </a:defRPr>
            </a:pPr>
            <a:r>
              <a:rPr sz="2025" b="1">
                <a:solidFill>
                  <a:srgbClr val="1F497D"/>
                </a:solidFill>
                <a:latin typeface="Arial"/>
                <a:ea typeface="Arial"/>
                <a:cs typeface="Arial"/>
                <a:hlinkClick xmlns:r="http://schemas.openxmlformats.org/officeDocument/2006/relationships" r:id="R2b312f78ec8643fe"/>
              </a:rPr>
              <a:t>02  Coordination method</a:t>
            </a:r>
          </a:p>
        </p:txBody>
      </p:sp>
      <p:sp>
        <p:nvSpPr>
          <p:cNvPr id="17429" name="Ricart–Agrawala (1981)&#10;Peer mutual exclusion ">
            <a:extLst xmlns:a="http://schemas.openxmlformats.org/drawingml/2006/main">
              <a:ext uri="{FF2B5EF4-FFF2-40B4-BE49-F238E27FC236}">
                <a16:creationId xmlns:a16="http://schemas.microsoft.com/office/drawing/2014/main" id="{B5C0ABE2-22D7-49E6-B5C4-89B6724EC2EA}"/>
              </a:ext>
            </a:extLst>
          </p:cNvPr>
          <p:cNvSpPr>
            <a:spLocks xmlns:a="http://schemas.openxmlformats.org/drawingml/2006/main" noGrp="1"/>
          </p:cNvSpPr>
          <p:nvPr/>
        </p:nvSpPr>
        <p:spPr>
          <a:xfrm xmlns:a="http://schemas.openxmlformats.org/drawingml/2006/main">
            <a:off x="609600" y="3810000"/>
            <a:ext cx="5105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203544"/>
                </a:solidFill>
                <a:latin typeface="Arial"/>
                <a:ea typeface="Arial"/>
                <a:cs typeface="Arial"/>
              </a:defRPr>
            </a:pPr>
            <a:r>
              <a:rPr sz="1800" b="0">
                <a:solidFill>
                  <a:srgbClr val="203544"/>
                </a:solidFill>
                <a:latin typeface="Arial"/>
                <a:ea typeface="Arial"/>
                <a:cs typeface="Arial"/>
              </a:rPr>
              <a:t>Ricart–Agrawala (1981)</a:t>
            </a:r>
          </a:p>
          <a:p xmlns:a="http://schemas.openxmlformats.org/drawingml/2006/main">
            <a:pPr algn="l">
              <a:buNone/>
              <a:defRPr sz="1800" b="0">
                <a:solidFill>
                  <a:srgbClr val="203544"/>
                </a:solidFill>
                <a:latin typeface="Arial"/>
                <a:ea typeface="Arial"/>
                <a:cs typeface="Arial"/>
              </a:defRPr>
            </a:pPr>
            <a:r>
              <a:rPr sz="1800" b="0">
                <a:solidFill>
                  <a:srgbClr val="203544"/>
                </a:solidFill>
                <a:latin typeface="Arial"/>
                <a:ea typeface="Arial"/>
                <a:cs typeface="Arial"/>
              </a:rPr>
              <a:t>Peer mutual exclusion as the foundation.</a:t>
            </a:r>
          </a:p>
        </p:txBody>
      </p:sp>
      <p:sp>
        <p:nvSpPr>
          <p:cNvPr id="17430" name="03  Safety context">
            <a:extLst xmlns:a="http://schemas.openxmlformats.org/drawingml/2006/main">
              <a:ext uri="{FF2B5EF4-FFF2-40B4-BE49-F238E27FC236}">
                <a16:creationId xmlns:a16="http://schemas.microsoft.com/office/drawing/2014/main" id="{BB66A637-90F3-4B85-A026-21CFB3631ED2}"/>
              </a:ext>
            </a:extLst>
          </p:cNvPr>
          <p:cNvSpPr>
            <a:spLocks xmlns:a="http://schemas.openxmlformats.org/drawingml/2006/main" noGrp="1"/>
          </p:cNvSpPr>
          <p:nvPr/>
        </p:nvSpPr>
        <p:spPr>
          <a:xfrm xmlns:a="http://schemas.openxmlformats.org/drawingml/2006/main">
            <a:off x="609600" y="4543425"/>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F497D"/>
                </a:solidFill>
                <a:latin typeface="Arial"/>
                <a:ea typeface="Arial"/>
                <a:cs typeface="Arial"/>
              </a:defRPr>
            </a:pPr>
            <a:r>
              <a:rPr sz="2025" b="1">
                <a:solidFill>
                  <a:srgbClr val="1F497D"/>
                </a:solidFill>
                <a:latin typeface="Arial"/>
                <a:ea typeface="Arial"/>
                <a:cs typeface="Arial"/>
                <a:hlinkClick xmlns:r="http://schemas.openxmlformats.org/officeDocument/2006/relationships" r:id="R284832624afe47cc"/>
              </a:rPr>
              <a:t>03  Safety context</a:t>
            </a:r>
          </a:p>
        </p:txBody>
      </p:sp>
      <p:sp>
        <p:nvSpPr>
          <p:cNvPr id="17431" name="Nav2 Collision Monitor&#10;Physical safety needs ">
            <a:extLst xmlns:a="http://schemas.openxmlformats.org/drawingml/2006/main">
              <a:ext uri="{FF2B5EF4-FFF2-40B4-BE49-F238E27FC236}">
                <a16:creationId xmlns:a16="http://schemas.microsoft.com/office/drawing/2014/main" id="{6BE623AD-1CCE-4A73-B30E-EA4AF6A1FADA}"/>
              </a:ext>
            </a:extLst>
          </p:cNvPr>
          <p:cNvSpPr>
            <a:spLocks xmlns:a="http://schemas.openxmlformats.org/drawingml/2006/main" noGrp="1"/>
          </p:cNvSpPr>
          <p:nvPr/>
        </p:nvSpPr>
        <p:spPr>
          <a:xfrm xmlns:a="http://schemas.openxmlformats.org/drawingml/2006/main">
            <a:off x="609600" y="4981575"/>
            <a:ext cx="5105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203544"/>
                </a:solidFill>
                <a:latin typeface="Arial"/>
                <a:ea typeface="Arial"/>
                <a:cs typeface="Arial"/>
              </a:defRPr>
            </a:pPr>
            <a:r>
              <a:rPr sz="1800" b="0">
                <a:solidFill>
                  <a:srgbClr val="203544"/>
                </a:solidFill>
                <a:latin typeface="Arial"/>
                <a:ea typeface="Arial"/>
                <a:cs typeface="Arial"/>
              </a:rPr>
              <a:t>Nav2 Collision Monitor</a:t>
            </a:r>
          </a:p>
          <a:p xmlns:a="http://schemas.openxmlformats.org/drawingml/2006/main">
            <a:pPr algn="l">
              <a:buNone/>
              <a:defRPr sz="1800" b="0">
                <a:solidFill>
                  <a:srgbClr val="203544"/>
                </a:solidFill>
                <a:latin typeface="Arial"/>
                <a:ea typeface="Arial"/>
                <a:cs typeface="Arial"/>
              </a:defRPr>
            </a:pPr>
            <a:r>
              <a:rPr sz="1800" b="0">
                <a:solidFill>
                  <a:srgbClr val="203544"/>
                </a:solidFill>
                <a:latin typeface="Arial"/>
                <a:ea typeface="Arial"/>
                <a:cs typeface="Arial"/>
              </a:rPr>
              <a:t>Physical safety needs hardware validation.</a:t>
            </a:r>
          </a:p>
        </p:txBody>
      </p:sp>
      <p:sp>
        <p:nvSpPr>
          <p:cNvPr id="17432" name="04  Existing fleet products">
            <a:extLst xmlns:a="http://schemas.openxmlformats.org/drawingml/2006/main">
              <a:ext uri="{FF2B5EF4-FFF2-40B4-BE49-F238E27FC236}">
                <a16:creationId xmlns:a16="http://schemas.microsoft.com/office/drawing/2014/main" id="{4859D270-0B42-4CD4-B608-520AF6C98F64}"/>
              </a:ext>
            </a:extLst>
          </p:cNvPr>
          <p:cNvSpPr>
            <a:spLocks xmlns:a="http://schemas.openxmlformats.org/drawingml/2006/main" noGrp="1"/>
          </p:cNvSpPr>
          <p:nvPr/>
        </p:nvSpPr>
        <p:spPr>
          <a:xfrm xmlns:a="http://schemas.openxmlformats.org/drawingml/2006/main">
            <a:off x="6477000" y="2200275"/>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F497D"/>
                </a:solidFill>
                <a:latin typeface="Arial"/>
                <a:ea typeface="Arial"/>
                <a:cs typeface="Arial"/>
              </a:defRPr>
            </a:pPr>
            <a:r>
              <a:rPr sz="2025" b="1">
                <a:solidFill>
                  <a:srgbClr val="1F497D"/>
                </a:solidFill>
                <a:latin typeface="Arial"/>
                <a:ea typeface="Arial"/>
                <a:cs typeface="Arial"/>
                <a:hlinkClick xmlns:r="http://schemas.openxmlformats.org/officeDocument/2006/relationships" r:id="Reeb43d8dbb50422a"/>
              </a:rPr>
              <a:t>04  Existing fleet products</a:t>
            </a:r>
          </a:p>
        </p:txBody>
      </p:sp>
      <p:sp>
        <p:nvSpPr>
          <p:cNvPr id="17433" name="MiR Fleet and OTTO&#10;Fleet coordination already">
            <a:extLst xmlns:a="http://schemas.openxmlformats.org/drawingml/2006/main">
              <a:ext uri="{FF2B5EF4-FFF2-40B4-BE49-F238E27FC236}">
                <a16:creationId xmlns:a16="http://schemas.microsoft.com/office/drawing/2014/main" id="{9AD25B76-0FAF-4479-9A10-ECB0AA7AECB5}"/>
              </a:ext>
            </a:extLst>
          </p:cNvPr>
          <p:cNvSpPr>
            <a:spLocks xmlns:a="http://schemas.openxmlformats.org/drawingml/2006/main" noGrp="1"/>
          </p:cNvSpPr>
          <p:nvPr/>
        </p:nvSpPr>
        <p:spPr>
          <a:xfrm xmlns:a="http://schemas.openxmlformats.org/drawingml/2006/main">
            <a:off x="6477000" y="2638425"/>
            <a:ext cx="5105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203544"/>
                </a:solidFill>
                <a:latin typeface="Arial"/>
                <a:ea typeface="Arial"/>
                <a:cs typeface="Arial"/>
              </a:defRPr>
            </a:pPr>
            <a:r>
              <a:rPr sz="1800" b="0">
                <a:solidFill>
                  <a:srgbClr val="203544"/>
                </a:solidFill>
                <a:latin typeface="Arial"/>
                <a:ea typeface="Arial"/>
                <a:cs typeface="Arial"/>
              </a:rPr>
              <a:t>MiR Fleet and </a:t>
            </a:r>
            <a:r>
              <a:rPr sz="1800" b="0">
                <a:solidFill>
                  <a:srgbClr val="203544"/>
                </a:solidFill>
                <a:latin typeface="Arial"/>
                <a:ea typeface="Arial"/>
                <a:cs typeface="Arial"/>
                <a:hlinkClick xmlns:r="http://schemas.openxmlformats.org/officeDocument/2006/relationships" r:id="R6983da0b6e0e44e4"/>
              </a:rPr>
              <a:t>OTTO</a:t>
            </a:r>
          </a:p>
          <a:p xmlns:a="http://schemas.openxmlformats.org/drawingml/2006/main">
            <a:pPr algn="l">
              <a:buNone/>
              <a:defRPr sz="1800" b="0">
                <a:solidFill>
                  <a:srgbClr val="203544"/>
                </a:solidFill>
                <a:latin typeface="Arial"/>
                <a:ea typeface="Arial"/>
                <a:cs typeface="Arial"/>
              </a:defRPr>
            </a:pPr>
            <a:r>
              <a:rPr sz="1800" b="0">
                <a:solidFill>
                  <a:srgbClr val="203544"/>
                </a:solidFill>
                <a:latin typeface="Arial"/>
                <a:ea typeface="Arial"/>
                <a:cs typeface="Arial"/>
              </a:rPr>
              <a:t>Fleet coordination already exists commercially.</a:t>
            </a:r>
          </a:p>
        </p:txBody>
      </p:sp>
      <p:sp>
        <p:nvSpPr>
          <p:cNvPr id="17434" name="05  Open coordination research">
            <a:extLst xmlns:a="http://schemas.openxmlformats.org/drawingml/2006/main">
              <a:ext uri="{FF2B5EF4-FFF2-40B4-BE49-F238E27FC236}">
                <a16:creationId xmlns:a16="http://schemas.microsoft.com/office/drawing/2014/main" id="{EA139385-9979-48F4-B963-FF1AB05E398C}"/>
              </a:ext>
            </a:extLst>
          </p:cNvPr>
          <p:cNvSpPr>
            <a:spLocks xmlns:a="http://schemas.openxmlformats.org/drawingml/2006/main" noGrp="1"/>
          </p:cNvSpPr>
          <p:nvPr/>
        </p:nvSpPr>
        <p:spPr>
          <a:xfrm xmlns:a="http://schemas.openxmlformats.org/drawingml/2006/main">
            <a:off x="6477000" y="3371850"/>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F497D"/>
                </a:solidFill>
                <a:latin typeface="Arial"/>
                <a:ea typeface="Arial"/>
                <a:cs typeface="Arial"/>
              </a:defRPr>
            </a:pPr>
            <a:r>
              <a:rPr sz="2025" b="1">
                <a:solidFill>
                  <a:srgbClr val="1F497D"/>
                </a:solidFill>
                <a:latin typeface="Arial"/>
                <a:ea typeface="Arial"/>
                <a:cs typeface="Arial"/>
                <a:hlinkClick xmlns:r="http://schemas.openxmlformats.org/officeDocument/2006/relationships" r:id="R19ec9d5b03004f58"/>
              </a:rPr>
              <a:t>05  Open coordination research</a:t>
            </a:r>
          </a:p>
        </p:txBody>
      </p:sp>
      <p:sp>
        <p:nvSpPr>
          <p:cNvPr id="17435" name="Open-RMF traffic management (2026)&#10;A relevant">
            <a:extLst xmlns:a="http://schemas.openxmlformats.org/drawingml/2006/main">
              <a:ext uri="{FF2B5EF4-FFF2-40B4-BE49-F238E27FC236}">
                <a16:creationId xmlns:a16="http://schemas.microsoft.com/office/drawing/2014/main" id="{C737DDEA-CD04-4F6D-B469-D28D5F8790A5}"/>
              </a:ext>
            </a:extLst>
          </p:cNvPr>
          <p:cNvSpPr>
            <a:spLocks xmlns:a="http://schemas.openxmlformats.org/drawingml/2006/main" noGrp="1"/>
          </p:cNvSpPr>
          <p:nvPr/>
        </p:nvSpPr>
        <p:spPr>
          <a:xfrm xmlns:a="http://schemas.openxmlformats.org/drawingml/2006/main">
            <a:off x="6477000" y="3810000"/>
            <a:ext cx="5105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203544"/>
                </a:solidFill>
                <a:latin typeface="Arial"/>
                <a:ea typeface="Arial"/>
                <a:cs typeface="Arial"/>
              </a:defRPr>
            </a:pPr>
            <a:r>
              <a:rPr sz="1800" b="0">
                <a:solidFill>
                  <a:srgbClr val="203544"/>
                </a:solidFill>
                <a:latin typeface="Arial"/>
                <a:ea typeface="Arial"/>
                <a:cs typeface="Arial"/>
              </a:rPr>
              <a:t>Open-RMF traffic management (2026)</a:t>
            </a:r>
          </a:p>
          <a:p xmlns:a="http://schemas.openxmlformats.org/drawingml/2006/main">
            <a:pPr algn="l">
              <a:buNone/>
              <a:defRPr sz="1800" b="0">
                <a:solidFill>
                  <a:srgbClr val="203544"/>
                </a:solidFill>
                <a:latin typeface="Arial"/>
                <a:ea typeface="Arial"/>
                <a:cs typeface="Arial"/>
              </a:defRPr>
            </a:pPr>
            <a:r>
              <a:rPr sz="1800" b="0">
                <a:solidFill>
                  <a:srgbClr val="203544"/>
                </a:solidFill>
                <a:latin typeface="Arial"/>
                <a:ea typeface="Arial"/>
                <a:cs typeface="Arial"/>
              </a:rPr>
              <a:t>A relevant open-source comparison.</a:t>
            </a:r>
          </a:p>
        </p:txBody>
      </p:sp>
      <p:sp>
        <p:nvSpPr>
          <p:cNvPr id="17436" name="06  Our evidence package">
            <a:extLst xmlns:a="http://schemas.openxmlformats.org/drawingml/2006/main">
              <a:ext uri="{FF2B5EF4-FFF2-40B4-BE49-F238E27FC236}">
                <a16:creationId xmlns:a16="http://schemas.microsoft.com/office/drawing/2014/main" id="{86973C10-140E-4A0F-9646-67402A94E99A}"/>
              </a:ext>
            </a:extLst>
          </p:cNvPr>
          <p:cNvSpPr>
            <a:spLocks xmlns:a="http://schemas.openxmlformats.org/drawingml/2006/main" noGrp="1"/>
          </p:cNvSpPr>
          <p:nvPr/>
        </p:nvSpPr>
        <p:spPr>
          <a:xfrm xmlns:a="http://schemas.openxmlformats.org/drawingml/2006/main">
            <a:off x="6477000" y="4543425"/>
            <a:ext cx="5105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1F497D"/>
                </a:solidFill>
                <a:latin typeface="Arial"/>
                <a:ea typeface="Arial"/>
                <a:cs typeface="Arial"/>
              </a:defRPr>
            </a:pPr>
            <a:r>
              <a:rPr sz="2025" b="1">
                <a:solidFill>
                  <a:srgbClr val="1F497D"/>
                </a:solidFill>
                <a:latin typeface="Arial"/>
                <a:ea typeface="Arial"/>
                <a:cs typeface="Arial"/>
              </a:rPr>
              <a:t>06  Our evidence package</a:t>
            </a:r>
          </a:p>
        </p:txBody>
      </p:sp>
      <p:sp>
        <p:nvSpPr>
          <p:cNvPr id="17437" name="160 benchmark runs + 26 system tests&#10;34 UI/AP">
            <a:extLst xmlns:a="http://schemas.openxmlformats.org/drawingml/2006/main">
              <a:ext uri="{FF2B5EF4-FFF2-40B4-BE49-F238E27FC236}">
                <a16:creationId xmlns:a16="http://schemas.microsoft.com/office/drawing/2014/main" id="{746E8502-E51D-498C-9BB8-34F4A8432D6C}"/>
              </a:ext>
            </a:extLst>
          </p:cNvPr>
          <p:cNvSpPr>
            <a:spLocks xmlns:a="http://schemas.openxmlformats.org/drawingml/2006/main" noGrp="1"/>
          </p:cNvSpPr>
          <p:nvPr/>
        </p:nvSpPr>
        <p:spPr>
          <a:xfrm xmlns:a="http://schemas.openxmlformats.org/drawingml/2006/main">
            <a:off x="6477000" y="4981575"/>
            <a:ext cx="5105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203544"/>
                </a:solidFill>
                <a:latin typeface="Arial"/>
                <a:ea typeface="Arial"/>
                <a:cs typeface="Arial"/>
              </a:defRPr>
            </a:pPr>
            <a:r>
              <a:rPr sz="1800" b="0">
                <a:solidFill>
                  <a:srgbClr val="203544"/>
                </a:solidFill>
                <a:latin typeface="Arial"/>
                <a:ea typeface="Arial"/>
                <a:cs typeface="Arial"/>
              </a:rPr>
              <a:t>160 historical runs + 51 system tests</a:t>
            </a:r>
          </a:p>
          <a:p xmlns:a="http://schemas.openxmlformats.org/drawingml/2006/main">
            <a:pPr algn="l">
              <a:buNone/>
              <a:defRPr sz="1800" b="0">
                <a:solidFill>
                  <a:srgbClr val="203544"/>
                </a:solidFill>
                <a:latin typeface="Arial"/>
                <a:ea typeface="Arial"/>
                <a:cs typeface="Arial"/>
              </a:defRPr>
            </a:pPr>
            <a:r>
              <a:rPr sz="1800" b="0">
                <a:solidFill>
                  <a:srgbClr val="203544"/>
                </a:solidFill>
                <a:latin typeface="Arial"/>
                <a:ea typeface="Arial"/>
                <a:cs typeface="Arial"/>
              </a:rPr>
              <a:t>Hosted replay and scoped Neon history.</a:t>
            </a:r>
          </a:p>
        </p:txBody>
      </p:sp>
      <p:sp>
        <p:nvSpPr>
          <p:cNvPr id="17438" name="Demo sequence">
            <a:extLst xmlns:a="http://schemas.openxmlformats.org/drawingml/2006/main">
              <a:ext uri="{FF2B5EF4-FFF2-40B4-BE49-F238E27FC236}">
                <a16:creationId xmlns:a16="http://schemas.microsoft.com/office/drawing/2014/main" id="{5CEE931F-5FC6-4BCC-BD63-70D3699FCDFB}"/>
              </a:ext>
            </a:extLst>
          </p:cNvPr>
          <p:cNvSpPr>
            <a:spLocks xmlns:a="http://schemas.openxmlformats.org/drawingml/2006/main" noGrp="1"/>
          </p:cNvSpPr>
          <p:nvPr/>
        </p:nvSpPr>
        <p:spPr>
          <a:xfrm xmlns:a="http://schemas.openxmlformats.org/drawingml/2006/main">
            <a:off x="609600" y="582930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F497D"/>
                </a:solidFill>
                <a:latin typeface="Arial"/>
                <a:ea typeface="Arial"/>
                <a:cs typeface="Arial"/>
              </a:defRPr>
            </a:pPr>
            <a:r>
              <a:rPr sz="1800" b="1">
                <a:solidFill>
                  <a:srgbClr val="1F497D"/>
                </a:solidFill>
                <a:latin typeface="Arial"/>
                <a:ea typeface="Arial"/>
                <a:cs typeface="Arial"/>
              </a:rPr>
              <a:t>Demo sequence</a:t>
            </a:r>
          </a:p>
        </p:txBody>
      </p:sp>
      <p:sp>
        <p:nvSpPr>
          <p:cNvPr id="17439" name="Urgent job. Closed aisle. Message outage. Rec">
            <a:extLst xmlns:a="http://schemas.openxmlformats.org/drawingml/2006/main">
              <a:ext uri="{FF2B5EF4-FFF2-40B4-BE49-F238E27FC236}">
                <a16:creationId xmlns:a16="http://schemas.microsoft.com/office/drawing/2014/main" id="{DF49516D-2424-45AA-A0CA-2B9689B4503A}"/>
              </a:ext>
            </a:extLst>
          </p:cNvPr>
          <p:cNvSpPr>
            <a:spLocks xmlns:a="http://schemas.openxmlformats.org/drawingml/2006/main" noGrp="1"/>
          </p:cNvSpPr>
          <p:nvPr/>
        </p:nvSpPr>
        <p:spPr>
          <a:xfrm xmlns:a="http://schemas.openxmlformats.org/drawingml/2006/main">
            <a:off x="2781300" y="5857875"/>
            <a:ext cx="8801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02D43"/>
                </a:solidFill>
                <a:latin typeface="Arial"/>
                <a:ea typeface="Arial"/>
                <a:cs typeface="Arial"/>
              </a:defRPr>
            </a:pPr>
            <a:r>
              <a:rPr sz="1800" b="0">
                <a:solidFill>
                  <a:srgbClr val="102D43"/>
                </a:solidFill>
                <a:latin typeface="Arial"/>
                <a:ea typeface="Arial"/>
                <a:cs typeface="Arial"/>
              </a:rPr>
              <a:t>Urgent job. Closed aisle. Message outage. Recorded recovery.</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2026-09-15T16:12:42.1350000Z</dcterms:created>
  <dcterms:modified xsi:type="dcterms:W3CDTF">2026-09-15T16:12:42.1350000Z</dcterms:modified>
</coreProperties>
</file>